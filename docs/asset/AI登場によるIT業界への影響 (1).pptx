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660"/>
  </p:normalViewPr>
  <p:slideViewPr>
    <p:cSldViewPr snapToGrid="0" snapToObjects="1">
      <p:cViewPr>
        <p:scale>
          <a:sx n="66" d="100"/>
          <a:sy n="66" d="100"/>
        </p:scale>
        <p:origin x="858" y="22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16.png"/><Relationship Id="rId12"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11.png"/><Relationship Id="rId10" Type="http://schemas.openxmlformats.org/officeDocument/2006/relationships/image" Target="../media/image19.png"/><Relationship Id="rId4" Type="http://schemas.openxmlformats.org/officeDocument/2006/relationships/image" Target="../media/image12.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23875" y="428625"/>
            <a:ext cx="11144250" cy="6000750"/>
          </a:xfrm>
          <a:prstGeom prst="rect">
            <a:avLst/>
          </a:prstGeom>
        </p:spPr>
      </p:pic>
      <p:sp>
        <p:nvSpPr>
          <p:cNvPr id="4" name="TextBox 3"/>
          <p:cNvSpPr txBox="1"/>
          <p:nvPr/>
        </p:nvSpPr>
        <p:spPr>
          <a:xfrm>
            <a:off x="1171575" y="2618482"/>
            <a:ext cx="10411301" cy="1143000"/>
          </a:xfrm>
          <a:prstGeom prst="rect">
            <a:avLst/>
          </a:prstGeom>
          <a:noFill/>
        </p:spPr>
        <p:txBody>
          <a:bodyPr wrap="square" lIns="0" tIns="0" rIns="0" bIns="0" anchor="t">
            <a:spAutoFit/>
          </a:bodyPr>
          <a:lstStyle/>
          <a:p>
            <a:pPr algn="l">
              <a:lnSpc>
                <a:spcPts val="4500"/>
              </a:lnSpc>
            </a:pPr>
            <a:r>
              <a:rPr sz="3600" b="0" i="0" u="none">
                <a:solidFill>
                  <a:srgbClr val="0F172A"/>
                </a:solidFill>
                <a:latin typeface="Noto Sans JP ExtraBold"/>
              </a:rPr>
              <a:t>AI登場による</a:t>
            </a:r>
            <a:r>
              <a:t>
</a:t>
            </a:r>
            <a:r>
              <a:rPr sz="3600" b="0" i="0" u="none">
                <a:solidFill>
                  <a:srgbClr val="2563EB"/>
                </a:solidFill>
                <a:latin typeface="Noto Sans JP ExtraBold"/>
              </a:rPr>
              <a:t>IT業界への影響</a:t>
            </a:r>
          </a:p>
        </p:txBody>
      </p:sp>
      <p:sp>
        <p:nvSpPr>
          <p:cNvPr id="5" name="TextBox 4"/>
          <p:cNvSpPr txBox="1"/>
          <p:nvPr/>
        </p:nvSpPr>
        <p:spPr>
          <a:xfrm>
            <a:off x="1171575" y="4142482"/>
            <a:ext cx="9915525" cy="557525"/>
          </a:xfrm>
          <a:prstGeom prst="rect">
            <a:avLst/>
          </a:prstGeom>
          <a:noFill/>
        </p:spPr>
        <p:txBody>
          <a:bodyPr wrap="square" lIns="0" tIns="0" rIns="0" bIns="0" anchor="t">
            <a:spAutoFit/>
          </a:bodyPr>
          <a:lstStyle/>
          <a:p>
            <a:pPr algn="l">
              <a:lnSpc>
                <a:spcPts val="2295"/>
              </a:lnSpc>
            </a:pPr>
            <a:r>
              <a:rPr sz="1350" b="0" i="0" u="none" dirty="0">
                <a:solidFill>
                  <a:srgbClr val="475569"/>
                </a:solidFill>
                <a:latin typeface="Noto Sans JP Medium"/>
              </a:rPr>
              <a:t>本日は</a:t>
            </a:r>
            <a:r>
              <a:rPr lang="en-US" altLang="ja-JP" sz="1350" b="0" i="0" u="none" dirty="0">
                <a:solidFill>
                  <a:srgbClr val="475569"/>
                </a:solidFill>
                <a:latin typeface="Noto Sans JP Medium"/>
              </a:rPr>
              <a:t>『</a:t>
            </a:r>
            <a:r>
              <a:rPr sz="1350" b="0" i="0" u="none" dirty="0">
                <a:solidFill>
                  <a:srgbClr val="475569"/>
                </a:solidFill>
                <a:latin typeface="Noto Sans JP Medium"/>
              </a:rPr>
              <a:t>AI導入によるIT業界への影響』についてお話しします</a:t>
            </a:r>
            <a:r>
              <a:rPr lang="ja-JP" altLang="en-US" sz="1350" b="0" i="0" u="none" dirty="0">
                <a:solidFill>
                  <a:srgbClr val="475569"/>
                </a:solidFill>
                <a:latin typeface="Noto Sans JP Medium"/>
              </a:rPr>
              <a:t>。</a:t>
            </a:r>
            <a:r>
              <a:rPr dirty="0"/>
              <a:t>
</a:t>
            </a:r>
            <a:r>
              <a:rPr sz="1350" b="0" i="0" u="none" dirty="0">
                <a:solidFill>
                  <a:srgbClr val="475569"/>
                </a:solidFill>
                <a:latin typeface="Noto Sans JP Medium"/>
              </a:rPr>
              <a:t>現場の変化と、これからの時代に求められる人材像をお伝えします。</a:t>
            </a:r>
          </a:p>
        </p:txBody>
      </p:sp>
      <p:sp>
        <p:nvSpPr>
          <p:cNvPr id="6" name="Rectangle 5"/>
          <p:cNvSpPr/>
          <p:nvPr/>
        </p:nvSpPr>
        <p:spPr>
          <a:xfrm>
            <a:off x="1171575" y="3951982"/>
            <a:ext cx="991552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23875" y="1885354"/>
            <a:ext cx="5457825" cy="3795712"/>
          </a:xfrm>
          <a:prstGeom prst="rect">
            <a:avLst/>
          </a:prstGeom>
        </p:spPr>
      </p:pic>
      <p:pic>
        <p:nvPicPr>
          <p:cNvPr id="3" name="Picture 2" descr="image.png"/>
          <p:cNvPicPr>
            <a:picLocks noChangeAspect="1"/>
          </p:cNvPicPr>
          <p:nvPr/>
        </p:nvPicPr>
        <p:blipFill>
          <a:blip r:embed="rId3"/>
          <a:stretch>
            <a:fillRect/>
          </a:stretch>
        </p:blipFill>
        <p:spPr>
          <a:xfrm>
            <a:off x="6210300" y="1973460"/>
            <a:ext cx="5457825" cy="3619500"/>
          </a:xfrm>
          <a:prstGeom prst="rect">
            <a:avLst/>
          </a:prstGeom>
        </p:spPr>
      </p:pic>
      <p:sp>
        <p:nvSpPr>
          <p:cNvPr id="5" name="TextBox 4"/>
          <p:cNvSpPr txBox="1"/>
          <p:nvPr/>
        </p:nvSpPr>
        <p:spPr>
          <a:xfrm>
            <a:off x="838200" y="2199679"/>
            <a:ext cx="4829175" cy="249492"/>
          </a:xfrm>
          <a:prstGeom prst="rect">
            <a:avLst/>
          </a:prstGeom>
          <a:noFill/>
        </p:spPr>
        <p:txBody>
          <a:bodyPr wrap="square" lIns="0" tIns="0" rIns="0" bIns="0" anchor="t">
            <a:spAutoFit/>
          </a:bodyPr>
          <a:lstStyle/>
          <a:p>
            <a:pPr algn="l">
              <a:lnSpc>
                <a:spcPts val="2165"/>
              </a:lnSpc>
            </a:pPr>
            <a:r>
              <a:rPr sz="1237" b="0" i="0" u="none" dirty="0">
                <a:solidFill>
                  <a:srgbClr val="334155"/>
                </a:solidFill>
                <a:latin typeface="Noto Sans JP Medium"/>
              </a:rPr>
              <a:t>本日は</a:t>
            </a:r>
            <a:r>
              <a:rPr sz="1237" b="1" i="0" u="none" dirty="0">
                <a:solidFill>
                  <a:srgbClr val="0F172A"/>
                </a:solidFill>
                <a:latin typeface="Noto Sans JP"/>
              </a:rPr>
              <a:t>『AI導入によるIT業界への影響』</a:t>
            </a:r>
            <a:r>
              <a:rPr sz="1237" b="0" i="0" u="none" dirty="0">
                <a:solidFill>
                  <a:srgbClr val="334155"/>
                </a:solidFill>
                <a:latin typeface="Noto Sans JP Medium"/>
              </a:rPr>
              <a:t>についてお話しします。</a:t>
            </a:r>
          </a:p>
        </p:txBody>
      </p:sp>
      <p:sp>
        <p:nvSpPr>
          <p:cNvPr id="6" name="TextBox 5"/>
          <p:cNvSpPr txBox="1"/>
          <p:nvPr/>
        </p:nvSpPr>
        <p:spPr>
          <a:xfrm>
            <a:off x="838200" y="2627114"/>
            <a:ext cx="4829175" cy="550068"/>
          </a:xfrm>
          <a:prstGeom prst="rect">
            <a:avLst/>
          </a:prstGeom>
          <a:noFill/>
        </p:spPr>
        <p:txBody>
          <a:bodyPr wrap="square" lIns="0" tIns="0" rIns="0" bIns="0" anchor="t">
            <a:spAutoFit/>
          </a:bodyPr>
          <a:lstStyle/>
          <a:p>
            <a:pPr algn="l">
              <a:lnSpc>
                <a:spcPts val="2165"/>
              </a:lnSpc>
            </a:pPr>
            <a:r>
              <a:rPr sz="1237" b="0" i="0" u="none" dirty="0">
                <a:solidFill>
                  <a:srgbClr val="334155"/>
                </a:solidFill>
                <a:latin typeface="Noto Sans JP Medium"/>
              </a:rPr>
              <a:t>現在、生成AIや様々なAIツールの進化によって、IT業界のあり方が根本から変わりつつあります。</a:t>
            </a:r>
          </a:p>
        </p:txBody>
      </p:sp>
      <p:pic>
        <p:nvPicPr>
          <p:cNvPr id="7" name="Picture 6" descr="image.png"/>
          <p:cNvPicPr>
            <a:picLocks noChangeAspect="1"/>
          </p:cNvPicPr>
          <p:nvPr/>
        </p:nvPicPr>
        <p:blipFill>
          <a:blip r:embed="rId4"/>
          <a:stretch>
            <a:fillRect/>
          </a:stretch>
        </p:blipFill>
        <p:spPr>
          <a:xfrm>
            <a:off x="838200" y="3329582"/>
            <a:ext cx="4829175" cy="1366837"/>
          </a:xfrm>
          <a:prstGeom prst="rect">
            <a:avLst/>
          </a:prstGeom>
        </p:spPr>
      </p:pic>
      <p:sp>
        <p:nvSpPr>
          <p:cNvPr id="8" name="TextBox 7"/>
          <p:cNvSpPr txBox="1"/>
          <p:nvPr/>
        </p:nvSpPr>
        <p:spPr>
          <a:xfrm>
            <a:off x="838200" y="4848820"/>
            <a:ext cx="4829175" cy="485582"/>
          </a:xfrm>
          <a:prstGeom prst="rect">
            <a:avLst/>
          </a:prstGeom>
          <a:noFill/>
        </p:spPr>
        <p:txBody>
          <a:bodyPr wrap="square" lIns="0" tIns="0" rIns="0" bIns="0" anchor="t">
            <a:spAutoFit/>
          </a:bodyPr>
          <a:lstStyle/>
          <a:p>
            <a:pPr algn="l">
              <a:lnSpc>
                <a:spcPts val="2039"/>
              </a:lnSpc>
            </a:pPr>
            <a:r>
              <a:rPr sz="1200" b="0" i="0" u="none" dirty="0">
                <a:solidFill>
                  <a:srgbClr val="475569"/>
                </a:solidFill>
                <a:latin typeface="Noto Sans JP Medium"/>
              </a:rPr>
              <a:t>本日は、現場の変化と、これからの時代に求められる人材像についてお伝えします。</a:t>
            </a:r>
          </a:p>
        </p:txBody>
      </p:sp>
      <p:pic>
        <p:nvPicPr>
          <p:cNvPr id="9" name="Picture 8" descr="image.png"/>
          <p:cNvPicPr>
            <a:picLocks noChangeAspect="1"/>
          </p:cNvPicPr>
          <p:nvPr/>
        </p:nvPicPr>
        <p:blipFill>
          <a:blip r:embed="rId5"/>
          <a:stretch>
            <a:fillRect/>
          </a:stretch>
        </p:blipFill>
        <p:spPr>
          <a:xfrm>
            <a:off x="6219825" y="1982985"/>
            <a:ext cx="5438775" cy="3600450"/>
          </a:xfrm>
          <a:prstGeom prst="rect">
            <a:avLst/>
          </a:prstGeom>
        </p:spPr>
      </p:pic>
      <p:sp>
        <p:nvSpPr>
          <p:cNvPr id="10" name="TextBox 9"/>
          <p:cNvSpPr txBox="1"/>
          <p:nvPr/>
        </p:nvSpPr>
        <p:spPr>
          <a:xfrm>
            <a:off x="523875" y="521087"/>
            <a:ext cx="11668125" cy="325538"/>
          </a:xfrm>
          <a:prstGeom prst="rect">
            <a:avLst/>
          </a:prstGeom>
          <a:noFill/>
        </p:spPr>
        <p:txBody>
          <a:bodyPr wrap="square" lIns="0" tIns="0" rIns="0" bIns="0" anchor="ctr">
            <a:spAutoFit/>
          </a:bodyPr>
          <a:lstStyle/>
          <a:p>
            <a:pPr algn="l">
              <a:lnSpc>
                <a:spcPts val="2729"/>
              </a:lnSpc>
            </a:pPr>
            <a:r>
              <a:rPr sz="2100" b="1" i="0" u="none" dirty="0">
                <a:solidFill>
                  <a:srgbClr val="0F172A"/>
                </a:solidFill>
                <a:latin typeface="Noto Sans JP ExtraBold"/>
              </a:rPr>
              <a:t>はじめに</a:t>
            </a:r>
          </a:p>
        </p:txBody>
      </p:sp>
      <p:sp>
        <p:nvSpPr>
          <p:cNvPr id="11" name="Rectangle 10"/>
          <p:cNvSpPr/>
          <p:nvPr/>
        </p:nvSpPr>
        <p:spPr>
          <a:xfrm>
            <a:off x="523875" y="889545"/>
            <a:ext cx="111442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grpSp>
        <p:nvGrpSpPr>
          <p:cNvPr id="17" name="グループ化 16">
            <a:extLst>
              <a:ext uri="{FF2B5EF4-FFF2-40B4-BE49-F238E27FC236}">
                <a16:creationId xmlns:a16="http://schemas.microsoft.com/office/drawing/2014/main" id="{CF546A73-1860-4FAD-B58D-67441524B672}"/>
              </a:ext>
            </a:extLst>
          </p:cNvPr>
          <p:cNvGrpSpPr/>
          <p:nvPr/>
        </p:nvGrpSpPr>
        <p:grpSpPr>
          <a:xfrm>
            <a:off x="2250897" y="1353229"/>
            <a:ext cx="7892596" cy="2265350"/>
            <a:chOff x="523875" y="2283766"/>
            <a:chExt cx="5457825" cy="1877601"/>
          </a:xfrm>
        </p:grpSpPr>
        <p:grpSp>
          <p:nvGrpSpPr>
            <p:cNvPr id="5" name="グループ化 4">
              <a:extLst>
                <a:ext uri="{FF2B5EF4-FFF2-40B4-BE49-F238E27FC236}">
                  <a16:creationId xmlns:a16="http://schemas.microsoft.com/office/drawing/2014/main" id="{6EF5BF51-5372-48F9-A40F-110CA3AC1CCC}"/>
                </a:ext>
              </a:extLst>
            </p:cNvPr>
            <p:cNvGrpSpPr/>
            <p:nvPr/>
          </p:nvGrpSpPr>
          <p:grpSpPr>
            <a:xfrm>
              <a:off x="523875" y="2283766"/>
              <a:ext cx="5457825" cy="1877601"/>
              <a:chOff x="523875" y="2283766"/>
              <a:chExt cx="5457825" cy="1877601"/>
            </a:xfrm>
          </p:grpSpPr>
          <p:pic>
            <p:nvPicPr>
              <p:cNvPr id="2" name="Picture 1" descr="image.png"/>
              <p:cNvPicPr>
                <a:picLocks noChangeAspect="1"/>
              </p:cNvPicPr>
              <p:nvPr/>
            </p:nvPicPr>
            <p:blipFill>
              <a:blip r:embed="rId2"/>
              <a:stretch>
                <a:fillRect/>
              </a:stretch>
            </p:blipFill>
            <p:spPr>
              <a:xfrm>
                <a:off x="523875" y="2283766"/>
                <a:ext cx="5457825" cy="1877601"/>
              </a:xfrm>
              <a:prstGeom prst="rect">
                <a:avLst/>
              </a:prstGeom>
            </p:spPr>
          </p:pic>
          <p:sp>
            <p:nvSpPr>
              <p:cNvPr id="6" name="TextBox 5"/>
              <p:cNvSpPr txBox="1"/>
              <p:nvPr/>
            </p:nvSpPr>
            <p:spPr>
              <a:xfrm>
                <a:off x="964602" y="2436831"/>
                <a:ext cx="4932335" cy="204077"/>
              </a:xfrm>
              <a:prstGeom prst="rect">
                <a:avLst/>
              </a:prstGeom>
              <a:noFill/>
            </p:spPr>
            <p:txBody>
              <a:bodyPr wrap="square" lIns="0" tIns="0" rIns="0" bIns="0" anchor="ctr">
                <a:spAutoFit/>
              </a:bodyPr>
              <a:lstStyle/>
              <a:p>
                <a:pPr algn="l"/>
                <a:r>
                  <a:rPr sz="1600" b="1" i="0" u="none" dirty="0">
                    <a:solidFill>
                      <a:srgbClr val="0F172A"/>
                    </a:solidFill>
                    <a:latin typeface="Noto Sans JP Black" panose="020B0200000000000000" pitchFamily="50" charset="-128"/>
                    <a:ea typeface="Noto Sans JP Black" panose="020B0200000000000000" pitchFamily="50" charset="-128"/>
                  </a:rPr>
                  <a:t>現場の</a:t>
                </a:r>
                <a:r>
                  <a:rPr lang="ja-JP" altLang="en-US" sz="1600" b="1" i="0" u="none" dirty="0">
                    <a:solidFill>
                      <a:srgbClr val="0F172A"/>
                    </a:solidFill>
                    <a:latin typeface="Noto Sans JP Black" panose="020B0200000000000000" pitchFamily="50" charset="-128"/>
                    <a:ea typeface="Noto Sans JP Black" panose="020B0200000000000000" pitchFamily="50" charset="-128"/>
                  </a:rPr>
                  <a:t>声</a:t>
                </a:r>
                <a:endParaRPr sz="1600" b="1" i="0" u="none" dirty="0">
                  <a:solidFill>
                    <a:srgbClr val="0F172A"/>
                  </a:solidFill>
                  <a:latin typeface="Noto Sans JP Black" panose="020B0200000000000000" pitchFamily="50" charset="-128"/>
                  <a:ea typeface="Noto Sans JP Black" panose="020B0200000000000000" pitchFamily="50" charset="-128"/>
                </a:endParaRPr>
              </a:p>
            </p:txBody>
          </p:sp>
          <p:sp>
            <p:nvSpPr>
              <p:cNvPr id="9" name="TextBox 8"/>
              <p:cNvSpPr txBox="1"/>
              <p:nvPr/>
            </p:nvSpPr>
            <p:spPr>
              <a:xfrm>
                <a:off x="752503" y="2744872"/>
                <a:ext cx="4812646" cy="1190660"/>
              </a:xfrm>
              <a:prstGeom prst="rect">
                <a:avLst/>
              </a:prstGeom>
              <a:noFill/>
            </p:spPr>
            <p:txBody>
              <a:bodyPr wrap="square" lIns="0" tIns="0" rIns="0" bIns="0" anchor="t">
                <a:spAutoFit/>
              </a:bodyPr>
              <a:lstStyle/>
              <a:p>
                <a:pPr algn="l">
                  <a:lnSpc>
                    <a:spcPts val="1918"/>
                  </a:lnSpc>
                </a:pPr>
                <a:r>
                  <a:rPr lang="ja-JP" altLang="en-US" sz="1162" b="1" i="0" u="none" dirty="0">
                    <a:solidFill>
                      <a:srgbClr val="334155"/>
                    </a:solidFill>
                    <a:latin typeface="Noto Sans JP Medium" panose="020B0200000000000000" pitchFamily="50" charset="-128"/>
                    <a:ea typeface="Noto Sans JP Medium" panose="020B0200000000000000" pitchFamily="50" charset="-128"/>
                  </a:rPr>
                  <a:t>・</a:t>
                </a:r>
                <a:r>
                  <a:rPr sz="1162" b="1" i="0" u="none" dirty="0">
                    <a:solidFill>
                      <a:srgbClr val="334155"/>
                    </a:solidFill>
                    <a:latin typeface="Noto Sans JP Medium" panose="020B0200000000000000" pitchFamily="50" charset="-128"/>
                    <a:ea typeface="Noto Sans JP Medium" panose="020B0200000000000000" pitchFamily="50" charset="-128"/>
                  </a:rPr>
                  <a:t>顧客の期待は人件費の削減、工数の削減に注目され</a:t>
                </a:r>
                <a:r>
                  <a:rPr sz="1162" b="1" i="0" u="none" dirty="0">
                    <a:solidFill>
                      <a:srgbClr val="0F172A"/>
                    </a:solidFill>
                    <a:latin typeface="Noto Sans JP Medium" panose="020B0200000000000000" pitchFamily="50" charset="-128"/>
                    <a:ea typeface="Noto Sans JP Medium" panose="020B0200000000000000" pitchFamily="50" charset="-128"/>
                  </a:rPr>
                  <a:t>「今まで通りの業務」</a:t>
                </a:r>
                <a:endParaRPr lang="en-US" sz="1162" b="1" i="0" u="none" dirty="0">
                  <a:solidFill>
                    <a:srgbClr val="0F172A"/>
                  </a:solidFill>
                  <a:latin typeface="Noto Sans JP Medium" panose="020B0200000000000000" pitchFamily="50" charset="-128"/>
                  <a:ea typeface="Noto Sans JP Medium" panose="020B0200000000000000" pitchFamily="50" charset="-128"/>
                </a:endParaRPr>
              </a:p>
              <a:p>
                <a:pPr algn="l">
                  <a:lnSpc>
                    <a:spcPts val="1918"/>
                  </a:lnSpc>
                </a:pPr>
                <a:r>
                  <a:rPr lang="ja-JP" altLang="en-US" sz="1162" b="1" i="0" u="none" dirty="0">
                    <a:solidFill>
                      <a:srgbClr val="0F172A"/>
                    </a:solidFill>
                    <a:latin typeface="Noto Sans JP Medium" panose="020B0200000000000000" pitchFamily="50" charset="-128"/>
                    <a:ea typeface="Noto Sans JP Medium" panose="020B0200000000000000" pitchFamily="50" charset="-128"/>
                  </a:rPr>
                  <a:t>　</a:t>
                </a:r>
                <a:r>
                  <a:rPr sz="1162" b="1" i="0" u="none" dirty="0">
                    <a:solidFill>
                      <a:srgbClr val="0F172A"/>
                    </a:solidFill>
                    <a:latin typeface="Noto Sans JP Medium" panose="020B0200000000000000" pitchFamily="50" charset="-128"/>
                    <a:ea typeface="Noto Sans JP Medium" panose="020B0200000000000000" pitchFamily="50" charset="-128"/>
                  </a:rPr>
                  <a:t>を対応するのではなく「効率化」が求められるようになった</a:t>
                </a:r>
                <a:r>
                  <a:rPr sz="1162" b="1" i="0" u="none" dirty="0">
                    <a:solidFill>
                      <a:srgbClr val="334155"/>
                    </a:solidFill>
                    <a:latin typeface="Noto Sans JP Medium" panose="020B0200000000000000" pitchFamily="50" charset="-128"/>
                    <a:ea typeface="Noto Sans JP Medium" panose="020B0200000000000000" pitchFamily="50" charset="-128"/>
                  </a:rPr>
                  <a:t>と感じている。</a:t>
                </a:r>
                <a:endParaRPr lang="en-US" sz="1162" b="1" i="0" u="none" dirty="0">
                  <a:solidFill>
                    <a:srgbClr val="334155"/>
                  </a:solidFill>
                  <a:latin typeface="Noto Sans JP Medium" panose="020B0200000000000000" pitchFamily="50" charset="-128"/>
                  <a:ea typeface="Noto Sans JP Medium" panose="020B0200000000000000" pitchFamily="50" charset="-128"/>
                </a:endParaRPr>
              </a:p>
              <a:p>
                <a:pPr>
                  <a:lnSpc>
                    <a:spcPts val="1918"/>
                  </a:lnSpc>
                </a:pPr>
                <a:r>
                  <a:rPr lang="ja-JP" altLang="en-US" sz="1162" b="1" i="0" u="none" dirty="0">
                    <a:solidFill>
                      <a:srgbClr val="334155"/>
                    </a:solidFill>
                    <a:latin typeface="Noto Sans JP Medium" panose="020B0200000000000000" pitchFamily="50" charset="-128"/>
                    <a:ea typeface="Noto Sans JP Medium" panose="020B0200000000000000" pitchFamily="50" charset="-128"/>
                  </a:rPr>
                  <a:t>・実際にお客様から</a:t>
                </a:r>
                <a:r>
                  <a:rPr lang="ja-JP" altLang="en-US" sz="1162" b="1" i="0" u="none" dirty="0">
                    <a:solidFill>
                      <a:srgbClr val="0F172A"/>
                    </a:solidFill>
                    <a:latin typeface="Noto Sans JP Medium" panose="020B0200000000000000" pitchFamily="50" charset="-128"/>
                    <a:ea typeface="Noto Sans JP Medium" panose="020B0200000000000000" pitchFamily="50" charset="-128"/>
                  </a:rPr>
                  <a:t>「</a:t>
                </a:r>
                <a:r>
                  <a:rPr lang="en-US" altLang="ja-JP" sz="1162" b="1" i="0" u="none" dirty="0">
                    <a:solidFill>
                      <a:srgbClr val="0F172A"/>
                    </a:solidFill>
                    <a:latin typeface="Noto Sans JP Medium" panose="020B0200000000000000" pitchFamily="50" charset="-128"/>
                    <a:ea typeface="Noto Sans JP Medium" panose="020B0200000000000000" pitchFamily="50" charset="-128"/>
                  </a:rPr>
                  <a:t>AI</a:t>
                </a:r>
                <a:r>
                  <a:rPr lang="ja-JP" altLang="en-US" sz="1162" b="1" i="0" u="none" dirty="0">
                    <a:solidFill>
                      <a:srgbClr val="0F172A"/>
                    </a:solidFill>
                    <a:latin typeface="Noto Sans JP Medium" panose="020B0200000000000000" pitchFamily="50" charset="-128"/>
                    <a:ea typeface="Noto Sans JP Medium" panose="020B0200000000000000" pitchFamily="50" charset="-128"/>
                  </a:rPr>
                  <a:t>導入して</a:t>
                </a:r>
                <a:r>
                  <a:rPr lang="en-US" altLang="ja-JP" sz="1162" b="1" i="0" u="none" dirty="0">
                    <a:solidFill>
                      <a:srgbClr val="0F172A"/>
                    </a:solidFill>
                    <a:latin typeface="Noto Sans JP Medium" panose="020B0200000000000000" pitchFamily="50" charset="-128"/>
                    <a:ea typeface="Noto Sans JP Medium" panose="020B0200000000000000" pitchFamily="50" charset="-128"/>
                  </a:rPr>
                  <a:t>NW</a:t>
                </a:r>
                <a:r>
                  <a:rPr lang="ja-JP" altLang="en-US" sz="1162" b="1" i="0" u="none" dirty="0">
                    <a:solidFill>
                      <a:srgbClr val="0F172A"/>
                    </a:solidFill>
                    <a:latin typeface="Noto Sans JP Medium" panose="020B0200000000000000" pitchFamily="50" charset="-128"/>
                    <a:ea typeface="Noto Sans JP Medium" panose="020B0200000000000000" pitchFamily="50" charset="-128"/>
                  </a:rPr>
                  <a:t>運用保守要員の半数を削減」を言われたこ</a:t>
                </a:r>
                <a:endParaRPr lang="en-US" altLang="ja-JP" sz="1162" b="1" i="0" u="none" dirty="0">
                  <a:solidFill>
                    <a:srgbClr val="0F172A"/>
                  </a:solidFill>
                  <a:latin typeface="Noto Sans JP Medium" panose="020B0200000000000000" pitchFamily="50" charset="-128"/>
                  <a:ea typeface="Noto Sans JP Medium" panose="020B0200000000000000" pitchFamily="50" charset="-128"/>
                </a:endParaRPr>
              </a:p>
              <a:p>
                <a:pPr>
                  <a:lnSpc>
                    <a:spcPts val="1918"/>
                  </a:lnSpc>
                </a:pPr>
                <a:r>
                  <a:rPr lang="ja-JP" altLang="en-US" sz="1162" b="1" dirty="0">
                    <a:solidFill>
                      <a:srgbClr val="0F172A"/>
                    </a:solidFill>
                    <a:latin typeface="Noto Sans JP Medium" panose="020B0200000000000000" pitchFamily="50" charset="-128"/>
                    <a:ea typeface="Noto Sans JP Medium" panose="020B0200000000000000" pitchFamily="50" charset="-128"/>
                  </a:rPr>
                  <a:t>　</a:t>
                </a:r>
                <a:r>
                  <a:rPr lang="ja-JP" altLang="en-US" sz="1162" b="1" i="0" u="none" dirty="0">
                    <a:solidFill>
                      <a:srgbClr val="0F172A"/>
                    </a:solidFill>
                    <a:latin typeface="Noto Sans JP Medium" panose="020B0200000000000000" pitchFamily="50" charset="-128"/>
                    <a:ea typeface="Noto Sans JP Medium" panose="020B0200000000000000" pitchFamily="50" charset="-128"/>
                  </a:rPr>
                  <a:t>とがある</a:t>
                </a:r>
                <a:r>
                  <a:rPr lang="ja-JP" altLang="en-US" sz="1162" b="1" i="0" u="none" dirty="0">
                    <a:solidFill>
                      <a:srgbClr val="334155"/>
                    </a:solidFill>
                    <a:latin typeface="Noto Sans JP Medium" panose="020B0200000000000000" pitchFamily="50" charset="-128"/>
                    <a:ea typeface="Noto Sans JP Medium" panose="020B0200000000000000" pitchFamily="50" charset="-128"/>
                  </a:rPr>
                  <a:t>。</a:t>
                </a:r>
                <a:endParaRPr lang="en-US" altLang="ja-JP" sz="1162" b="1" i="0" u="none" dirty="0">
                  <a:solidFill>
                    <a:srgbClr val="334155"/>
                  </a:solidFill>
                  <a:latin typeface="Noto Sans JP Medium" panose="020B0200000000000000" pitchFamily="50" charset="-128"/>
                  <a:ea typeface="Noto Sans JP Medium" panose="020B0200000000000000" pitchFamily="50" charset="-128"/>
                </a:endParaRPr>
              </a:p>
              <a:p>
                <a:pPr>
                  <a:lnSpc>
                    <a:spcPts val="1918"/>
                  </a:lnSpc>
                </a:pPr>
                <a:r>
                  <a:rPr lang="ja-JP" altLang="en-US" sz="1162" b="1" dirty="0">
                    <a:solidFill>
                      <a:srgbClr val="334155"/>
                    </a:solidFill>
                    <a:latin typeface="Noto Sans JP Medium" panose="020B0200000000000000" pitchFamily="50" charset="-128"/>
                    <a:ea typeface="Noto Sans JP Medium" panose="020B0200000000000000" pitchFamily="50" charset="-128"/>
                  </a:rPr>
                  <a:t>・現時点でインフラにおいて</a:t>
                </a:r>
                <a:r>
                  <a:rPr lang="en-US" altLang="ja-JP" sz="1162" b="1" dirty="0">
                    <a:solidFill>
                      <a:srgbClr val="334155"/>
                    </a:solidFill>
                    <a:latin typeface="Noto Sans JP Medium" panose="020B0200000000000000" pitchFamily="50" charset="-128"/>
                    <a:ea typeface="Noto Sans JP Medium" panose="020B0200000000000000" pitchFamily="50" charset="-128"/>
                  </a:rPr>
                  <a:t>AI</a:t>
                </a:r>
                <a:r>
                  <a:rPr lang="ja-JP" altLang="en-US" sz="1162" b="1" dirty="0">
                    <a:solidFill>
                      <a:srgbClr val="334155"/>
                    </a:solidFill>
                    <a:latin typeface="Noto Sans JP Medium" panose="020B0200000000000000" pitchFamily="50" charset="-128"/>
                    <a:ea typeface="Noto Sans JP Medium" panose="020B0200000000000000" pitchFamily="50" charset="-128"/>
                  </a:rPr>
                  <a:t>を導入している環境は少ないが、今後は増加</a:t>
                </a:r>
                <a:endParaRPr lang="en-US" altLang="ja-JP" sz="1162" b="1" dirty="0">
                  <a:solidFill>
                    <a:srgbClr val="334155"/>
                  </a:solidFill>
                  <a:latin typeface="Noto Sans JP Medium" panose="020B0200000000000000" pitchFamily="50" charset="-128"/>
                  <a:ea typeface="Noto Sans JP Medium" panose="020B0200000000000000" pitchFamily="50" charset="-128"/>
                </a:endParaRPr>
              </a:p>
              <a:p>
                <a:pPr>
                  <a:lnSpc>
                    <a:spcPts val="1918"/>
                  </a:lnSpc>
                </a:pPr>
                <a:r>
                  <a:rPr lang="ja-JP" altLang="en-US" sz="1162" b="1" dirty="0">
                    <a:solidFill>
                      <a:srgbClr val="334155"/>
                    </a:solidFill>
                    <a:latin typeface="Noto Sans JP Medium" panose="020B0200000000000000" pitchFamily="50" charset="-128"/>
                    <a:ea typeface="Noto Sans JP Medium" panose="020B0200000000000000" pitchFamily="50" charset="-128"/>
                  </a:rPr>
                  <a:t>　することが予想される</a:t>
                </a:r>
                <a:endParaRPr lang="ja-JP" altLang="en-US" sz="1162" b="1" i="0" u="none" dirty="0">
                  <a:solidFill>
                    <a:srgbClr val="334155"/>
                  </a:solidFill>
                  <a:latin typeface="Noto Sans JP Medium" panose="020B0200000000000000" pitchFamily="50" charset="-128"/>
                  <a:ea typeface="Noto Sans JP Medium" panose="020B0200000000000000" pitchFamily="50" charset="-128"/>
                </a:endParaRPr>
              </a:p>
            </p:txBody>
          </p:sp>
        </p:grpSp>
        <p:pic>
          <p:nvPicPr>
            <p:cNvPr id="12" name="Picture 11" descr="image.png"/>
            <p:cNvPicPr>
              <a:picLocks noChangeAspect="1"/>
            </p:cNvPicPr>
            <p:nvPr/>
          </p:nvPicPr>
          <p:blipFill>
            <a:blip r:embed="rId3"/>
            <a:stretch>
              <a:fillRect/>
            </a:stretch>
          </p:blipFill>
          <p:spPr>
            <a:xfrm>
              <a:off x="775298" y="2465297"/>
              <a:ext cx="114611" cy="149189"/>
            </a:xfrm>
            <a:prstGeom prst="rect">
              <a:avLst/>
            </a:prstGeom>
          </p:spPr>
        </p:pic>
      </p:grpSp>
      <p:sp>
        <p:nvSpPr>
          <p:cNvPr id="15" name="TextBox 14"/>
          <p:cNvSpPr txBox="1"/>
          <p:nvPr/>
        </p:nvSpPr>
        <p:spPr>
          <a:xfrm>
            <a:off x="523875" y="498585"/>
            <a:ext cx="11668125" cy="325538"/>
          </a:xfrm>
          <a:prstGeom prst="rect">
            <a:avLst/>
          </a:prstGeom>
          <a:noFill/>
        </p:spPr>
        <p:txBody>
          <a:bodyPr wrap="square" lIns="0" tIns="0" rIns="0" bIns="0" anchor="ctr">
            <a:spAutoFit/>
          </a:bodyPr>
          <a:lstStyle/>
          <a:p>
            <a:pPr algn="l">
              <a:lnSpc>
                <a:spcPts val="2729"/>
              </a:lnSpc>
            </a:pPr>
            <a:r>
              <a:rPr sz="2100" b="1" i="0" u="none" dirty="0">
                <a:solidFill>
                  <a:srgbClr val="0F172A"/>
                </a:solidFill>
                <a:latin typeface="Noto Sans JP ExtraBold"/>
              </a:rPr>
              <a:t>現状 </a:t>
            </a:r>
            <a:r>
              <a:rPr lang="ja-JP" altLang="en-US" sz="2100" b="1" dirty="0">
                <a:solidFill>
                  <a:srgbClr val="0F172A"/>
                </a:solidFill>
                <a:latin typeface="Noto Sans JP ExtraBold"/>
              </a:rPr>
              <a:t>（</a:t>
            </a:r>
            <a:r>
              <a:rPr lang="ja-JP" altLang="en-US" sz="2100" b="1" i="0" u="none" dirty="0">
                <a:solidFill>
                  <a:srgbClr val="0F172A"/>
                </a:solidFill>
                <a:latin typeface="Noto Sans JP ExtraBold"/>
              </a:rPr>
              <a:t>イン</a:t>
            </a:r>
            <a:r>
              <a:rPr sz="2100" b="1" i="0" u="none" dirty="0">
                <a:solidFill>
                  <a:srgbClr val="0F172A"/>
                </a:solidFill>
                <a:latin typeface="Noto Sans JP ExtraBold"/>
              </a:rPr>
              <a:t>フラ</a:t>
            </a:r>
            <a:r>
              <a:rPr lang="ja-JP" altLang="en-US" sz="2100" b="1" i="0" u="none" dirty="0">
                <a:solidFill>
                  <a:srgbClr val="0F172A"/>
                </a:solidFill>
                <a:latin typeface="Noto Sans JP ExtraBold"/>
              </a:rPr>
              <a:t>）</a:t>
            </a:r>
            <a:endParaRPr sz="2100" b="1" i="0" u="none" dirty="0">
              <a:solidFill>
                <a:srgbClr val="0F172A"/>
              </a:solidFill>
              <a:latin typeface="Noto Sans JP ExtraBold"/>
            </a:endParaRPr>
          </a:p>
        </p:txBody>
      </p:sp>
      <p:sp>
        <p:nvSpPr>
          <p:cNvPr id="16" name="Rectangle 15"/>
          <p:cNvSpPr/>
          <p:nvPr/>
        </p:nvSpPr>
        <p:spPr>
          <a:xfrm>
            <a:off x="523875" y="889545"/>
            <a:ext cx="111442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5" name="グループ化 34">
            <a:extLst>
              <a:ext uri="{FF2B5EF4-FFF2-40B4-BE49-F238E27FC236}">
                <a16:creationId xmlns:a16="http://schemas.microsoft.com/office/drawing/2014/main" id="{06268C40-B395-4159-B57B-748C1B36FC4E}"/>
              </a:ext>
            </a:extLst>
          </p:cNvPr>
          <p:cNvGrpSpPr/>
          <p:nvPr/>
        </p:nvGrpSpPr>
        <p:grpSpPr>
          <a:xfrm>
            <a:off x="2250897" y="3727354"/>
            <a:ext cx="3475704" cy="2751823"/>
            <a:chOff x="266471" y="3117108"/>
            <a:chExt cx="3506258" cy="2431935"/>
          </a:xfrm>
        </p:grpSpPr>
        <p:pic>
          <p:nvPicPr>
            <p:cNvPr id="23" name="Picture 2" descr="image.png">
              <a:extLst>
                <a:ext uri="{FF2B5EF4-FFF2-40B4-BE49-F238E27FC236}">
                  <a16:creationId xmlns:a16="http://schemas.microsoft.com/office/drawing/2014/main" id="{84DEB143-9D67-43EB-933B-7A6A4AD10D88}"/>
                </a:ext>
              </a:extLst>
            </p:cNvPr>
            <p:cNvPicPr>
              <a:picLocks noChangeAspect="1"/>
            </p:cNvPicPr>
            <p:nvPr/>
          </p:nvPicPr>
          <p:blipFill>
            <a:blip r:embed="rId4"/>
            <a:stretch>
              <a:fillRect/>
            </a:stretch>
          </p:blipFill>
          <p:spPr>
            <a:xfrm>
              <a:off x="266471" y="3117108"/>
              <a:ext cx="3506258" cy="2431935"/>
            </a:xfrm>
            <a:prstGeom prst="rect">
              <a:avLst/>
            </a:prstGeom>
          </p:spPr>
        </p:pic>
        <p:pic>
          <p:nvPicPr>
            <p:cNvPr id="34" name="Picture 5" descr="image.png">
              <a:extLst>
                <a:ext uri="{FF2B5EF4-FFF2-40B4-BE49-F238E27FC236}">
                  <a16:creationId xmlns:a16="http://schemas.microsoft.com/office/drawing/2014/main" id="{1B6619DA-2D28-45F5-A195-ECD796FFC466}"/>
                </a:ext>
              </a:extLst>
            </p:cNvPr>
            <p:cNvPicPr>
              <a:picLocks noChangeAspect="1"/>
            </p:cNvPicPr>
            <p:nvPr/>
          </p:nvPicPr>
          <p:blipFill>
            <a:blip r:embed="rId5"/>
            <a:stretch>
              <a:fillRect/>
            </a:stretch>
          </p:blipFill>
          <p:spPr>
            <a:xfrm>
              <a:off x="635532" y="4504000"/>
              <a:ext cx="2795342" cy="781050"/>
            </a:xfrm>
            <a:prstGeom prst="rect">
              <a:avLst/>
            </a:prstGeom>
          </p:spPr>
        </p:pic>
        <p:sp>
          <p:nvSpPr>
            <p:cNvPr id="24" name="TextBox 9">
              <a:extLst>
                <a:ext uri="{FF2B5EF4-FFF2-40B4-BE49-F238E27FC236}">
                  <a16:creationId xmlns:a16="http://schemas.microsoft.com/office/drawing/2014/main" id="{69054539-AF81-4D30-B2F0-9881481385B2}"/>
                </a:ext>
              </a:extLst>
            </p:cNvPr>
            <p:cNvSpPr txBox="1"/>
            <p:nvPr/>
          </p:nvSpPr>
          <p:spPr>
            <a:xfrm>
              <a:off x="927036" y="3287668"/>
              <a:ext cx="2594888" cy="246221"/>
            </a:xfrm>
            <a:prstGeom prst="rect">
              <a:avLst/>
            </a:prstGeom>
            <a:noFill/>
          </p:spPr>
          <p:txBody>
            <a:bodyPr wrap="square" lIns="0" tIns="0" rIns="0" bIns="0" anchor="ctr">
              <a:spAutoFit/>
            </a:bodyPr>
            <a:lstStyle/>
            <a:p>
              <a:pPr algn="l"/>
              <a:r>
                <a:rPr lang="ja-JP" altLang="en-US" sz="1600" b="1" dirty="0">
                  <a:solidFill>
                    <a:srgbClr val="0F172A"/>
                  </a:solidFill>
                  <a:latin typeface="Noto Sans JP Black" panose="020B0200000000000000" pitchFamily="50" charset="-128"/>
                  <a:ea typeface="Noto Sans JP Black" panose="020B0200000000000000" pitchFamily="50" charset="-128"/>
                </a:rPr>
                <a:t>運用・監視</a:t>
              </a:r>
              <a:r>
                <a:rPr lang="en-US" altLang="ja-JP" sz="1600" b="1" dirty="0">
                  <a:solidFill>
                    <a:srgbClr val="0F172A"/>
                  </a:solidFill>
                  <a:latin typeface="Noto Sans JP Black" panose="020B0200000000000000" pitchFamily="50" charset="-128"/>
                  <a:ea typeface="Noto Sans JP Black" panose="020B0200000000000000" pitchFamily="50" charset="-128"/>
                </a:rPr>
                <a:t>AI</a:t>
              </a:r>
              <a:r>
                <a:rPr lang="ja-JP" altLang="en-US" sz="1600" b="1" dirty="0">
                  <a:solidFill>
                    <a:srgbClr val="0F172A"/>
                  </a:solidFill>
                  <a:latin typeface="Noto Sans JP Black" panose="020B0200000000000000" pitchFamily="50" charset="-128"/>
                  <a:ea typeface="Noto Sans JP Black" panose="020B0200000000000000" pitchFamily="50" charset="-128"/>
                </a:rPr>
                <a:t>導入後の変化</a:t>
              </a:r>
              <a:endParaRPr sz="1600" b="1" i="0" u="none" dirty="0">
                <a:solidFill>
                  <a:srgbClr val="0F172A"/>
                </a:solidFill>
                <a:latin typeface="Noto Sans JP Black" panose="020B0200000000000000" pitchFamily="50" charset="-128"/>
                <a:ea typeface="Noto Sans JP Black" panose="020B0200000000000000" pitchFamily="50" charset="-128"/>
              </a:endParaRPr>
            </a:p>
          </p:txBody>
        </p:sp>
        <p:pic>
          <p:nvPicPr>
            <p:cNvPr id="25" name="Picture 12" descr="image.png">
              <a:extLst>
                <a:ext uri="{FF2B5EF4-FFF2-40B4-BE49-F238E27FC236}">
                  <a16:creationId xmlns:a16="http://schemas.microsoft.com/office/drawing/2014/main" id="{2DB040FA-E266-448B-8544-42F27A922909}"/>
                </a:ext>
              </a:extLst>
            </p:cNvPr>
            <p:cNvPicPr>
              <a:picLocks noChangeAspect="1"/>
            </p:cNvPicPr>
            <p:nvPr/>
          </p:nvPicPr>
          <p:blipFill>
            <a:blip r:embed="rId6"/>
            <a:stretch>
              <a:fillRect/>
            </a:stretch>
          </p:blipFill>
          <p:spPr>
            <a:xfrm>
              <a:off x="646015" y="3296292"/>
              <a:ext cx="166364" cy="228977"/>
            </a:xfrm>
            <a:prstGeom prst="rect">
              <a:avLst/>
            </a:prstGeom>
          </p:spPr>
        </p:pic>
        <p:pic>
          <p:nvPicPr>
            <p:cNvPr id="28" name="Picture 4" descr="image.png">
              <a:extLst>
                <a:ext uri="{FF2B5EF4-FFF2-40B4-BE49-F238E27FC236}">
                  <a16:creationId xmlns:a16="http://schemas.microsoft.com/office/drawing/2014/main" id="{E57DD7CE-2439-4F68-B6E8-3284296AE64D}"/>
                </a:ext>
              </a:extLst>
            </p:cNvPr>
            <p:cNvPicPr>
              <a:picLocks noChangeAspect="1"/>
            </p:cNvPicPr>
            <p:nvPr/>
          </p:nvPicPr>
          <p:blipFill>
            <a:blip r:embed="rId7"/>
            <a:stretch>
              <a:fillRect/>
            </a:stretch>
          </p:blipFill>
          <p:spPr>
            <a:xfrm>
              <a:off x="643305" y="3717313"/>
              <a:ext cx="2787568" cy="677912"/>
            </a:xfrm>
            <a:prstGeom prst="rect">
              <a:avLst/>
            </a:prstGeom>
          </p:spPr>
        </p:pic>
        <p:sp>
          <p:nvSpPr>
            <p:cNvPr id="31" name="TextBox 16">
              <a:extLst>
                <a:ext uri="{FF2B5EF4-FFF2-40B4-BE49-F238E27FC236}">
                  <a16:creationId xmlns:a16="http://schemas.microsoft.com/office/drawing/2014/main" id="{3443A595-229A-4FF1-8F46-F4572478F083}"/>
                </a:ext>
              </a:extLst>
            </p:cNvPr>
            <p:cNvSpPr txBox="1"/>
            <p:nvPr/>
          </p:nvSpPr>
          <p:spPr>
            <a:xfrm>
              <a:off x="729195" y="3887496"/>
              <a:ext cx="2571750" cy="338554"/>
            </a:xfrm>
            <a:prstGeom prst="rect">
              <a:avLst/>
            </a:prstGeom>
            <a:noFill/>
          </p:spPr>
          <p:txBody>
            <a:bodyPr wrap="square" lIns="0" tIns="0" rIns="0" bIns="0" anchor="t">
              <a:spAutoFit/>
            </a:bodyPr>
            <a:lstStyle/>
            <a:p>
              <a:pPr algn="l"/>
              <a:r>
                <a:rPr lang="ja-JP" altLang="en-US" sz="1100" b="1" dirty="0">
                  <a:solidFill>
                    <a:srgbClr val="334155"/>
                  </a:solidFill>
                  <a:latin typeface="Noto Sans JP Medium" panose="020B0200000000000000" pitchFamily="50" charset="-128"/>
                  <a:ea typeface="Noto Sans JP Medium" panose="020B0200000000000000" pitchFamily="50" charset="-128"/>
                </a:rPr>
                <a:t>従来の監視・運用</a:t>
              </a:r>
              <a:endParaRPr lang="en-US" sz="1100" b="1" i="0" u="none" dirty="0">
                <a:solidFill>
                  <a:srgbClr val="334155"/>
                </a:solidFill>
                <a:latin typeface="Noto Sans JP Medium" panose="020B0200000000000000" pitchFamily="50" charset="-128"/>
                <a:ea typeface="Noto Sans JP Medium" panose="020B0200000000000000" pitchFamily="50" charset="-128"/>
              </a:endParaRPr>
            </a:p>
            <a:p>
              <a:pPr algn="l"/>
              <a:r>
                <a:rPr lang="ja-JP" altLang="en-US" sz="1100" b="1" i="0" dirty="0">
                  <a:solidFill>
                    <a:srgbClr val="0D0D0D"/>
                  </a:solidFill>
                  <a:effectLst/>
                  <a:latin typeface="Noto Sans JP Medium" panose="020B0200000000000000" pitchFamily="50" charset="-128"/>
                  <a:ea typeface="Noto Sans JP Medium" panose="020B0200000000000000" pitchFamily="50" charset="-128"/>
                </a:rPr>
                <a:t>障害発生 → アラート → 人が対応</a:t>
              </a:r>
              <a:endParaRPr lang="en-US" sz="1100" b="1" i="0" u="none" dirty="0">
                <a:solidFill>
                  <a:srgbClr val="334155"/>
                </a:solidFill>
                <a:latin typeface="Noto Sans JP Medium" panose="020B0200000000000000" pitchFamily="50" charset="-128"/>
                <a:ea typeface="Noto Sans JP Medium" panose="020B0200000000000000" pitchFamily="50" charset="-128"/>
              </a:endParaRPr>
            </a:p>
          </p:txBody>
        </p:sp>
        <p:sp>
          <p:nvSpPr>
            <p:cNvPr id="33" name="TextBox 16">
              <a:extLst>
                <a:ext uri="{FF2B5EF4-FFF2-40B4-BE49-F238E27FC236}">
                  <a16:creationId xmlns:a16="http://schemas.microsoft.com/office/drawing/2014/main" id="{B27C350B-0EA6-4365-BFC0-3FC36E928521}"/>
                </a:ext>
              </a:extLst>
            </p:cNvPr>
            <p:cNvSpPr txBox="1"/>
            <p:nvPr/>
          </p:nvSpPr>
          <p:spPr>
            <a:xfrm>
              <a:off x="729195" y="4721346"/>
              <a:ext cx="2571750" cy="336567"/>
            </a:xfrm>
            <a:prstGeom prst="rect">
              <a:avLst/>
            </a:prstGeom>
            <a:noFill/>
          </p:spPr>
          <p:txBody>
            <a:bodyPr wrap="square" lIns="0" tIns="0" rIns="0" bIns="0" anchor="t">
              <a:spAutoFit/>
            </a:bodyPr>
            <a:lstStyle/>
            <a:p>
              <a:pPr algn="l"/>
              <a:r>
                <a:rPr lang="en-US" altLang="ja-JP" sz="1100" b="1" dirty="0">
                  <a:solidFill>
                    <a:srgbClr val="334155"/>
                  </a:solidFill>
                  <a:latin typeface="Noto Sans JP Medium" panose="020B0200000000000000" pitchFamily="50" charset="-128"/>
                  <a:ea typeface="Noto Sans JP Medium" panose="020B0200000000000000" pitchFamily="50" charset="-128"/>
                </a:rPr>
                <a:t>AI</a:t>
              </a:r>
              <a:r>
                <a:rPr lang="ja-JP" altLang="en-US" sz="1100" b="1" dirty="0">
                  <a:solidFill>
                    <a:srgbClr val="334155"/>
                  </a:solidFill>
                  <a:latin typeface="Noto Sans JP Medium" panose="020B0200000000000000" pitchFamily="50" charset="-128"/>
                  <a:ea typeface="Noto Sans JP Medium" panose="020B0200000000000000" pitchFamily="50" charset="-128"/>
                </a:rPr>
                <a:t>化による変化</a:t>
              </a:r>
              <a:endParaRPr lang="en-US" altLang="ja-JP" sz="1100" b="1" dirty="0">
                <a:solidFill>
                  <a:srgbClr val="334155"/>
                </a:solidFill>
                <a:latin typeface="Noto Sans JP Medium" panose="020B0200000000000000" pitchFamily="50" charset="-128"/>
                <a:ea typeface="Noto Sans JP Medium" panose="020B0200000000000000" pitchFamily="50" charset="-128"/>
              </a:endParaRPr>
            </a:p>
            <a:p>
              <a:pPr algn="l"/>
              <a:r>
                <a:rPr lang="ja-JP" altLang="en-US" sz="1100" b="1" i="0" dirty="0">
                  <a:solidFill>
                    <a:srgbClr val="0D0D0D"/>
                  </a:solidFill>
                  <a:effectLst/>
                  <a:latin typeface="Noto Sans JP Medium" panose="020B0200000000000000" pitchFamily="50" charset="-128"/>
                  <a:ea typeface="Noto Sans JP Medium" panose="020B0200000000000000" pitchFamily="50" charset="-128"/>
                </a:rPr>
                <a:t>異常の兆候を検知 → 障害発生前に対応</a:t>
              </a:r>
              <a:endParaRPr sz="1100" b="1" i="0" u="none" dirty="0">
                <a:solidFill>
                  <a:srgbClr val="334155"/>
                </a:solidFill>
                <a:latin typeface="Noto Sans JP Medium" panose="020B0200000000000000" pitchFamily="50" charset="-128"/>
                <a:ea typeface="Noto Sans JP Medium" panose="020B0200000000000000" pitchFamily="50" charset="-128"/>
              </a:endParaRPr>
            </a:p>
          </p:txBody>
        </p:sp>
      </p:grpSp>
      <p:pic>
        <p:nvPicPr>
          <p:cNvPr id="36" name="Picture 3" descr="image.png">
            <a:extLst>
              <a:ext uri="{FF2B5EF4-FFF2-40B4-BE49-F238E27FC236}">
                <a16:creationId xmlns:a16="http://schemas.microsoft.com/office/drawing/2014/main" id="{838137CE-C112-41A4-9357-8BBE86078AED}"/>
              </a:ext>
            </a:extLst>
          </p:cNvPr>
          <p:cNvPicPr>
            <a:picLocks noChangeAspect="1"/>
          </p:cNvPicPr>
          <p:nvPr/>
        </p:nvPicPr>
        <p:blipFill>
          <a:blip r:embed="rId8"/>
          <a:stretch>
            <a:fillRect/>
          </a:stretch>
        </p:blipFill>
        <p:spPr>
          <a:xfrm>
            <a:off x="5887343" y="3747341"/>
            <a:ext cx="4256150" cy="2731836"/>
          </a:xfrm>
          <a:prstGeom prst="rect">
            <a:avLst/>
          </a:prstGeom>
        </p:spPr>
      </p:pic>
      <p:sp>
        <p:nvSpPr>
          <p:cNvPr id="41" name="TextBox 8">
            <a:extLst>
              <a:ext uri="{FF2B5EF4-FFF2-40B4-BE49-F238E27FC236}">
                <a16:creationId xmlns:a16="http://schemas.microsoft.com/office/drawing/2014/main" id="{47788CC9-1F07-41A6-8462-2D2887B89823}"/>
              </a:ext>
            </a:extLst>
          </p:cNvPr>
          <p:cNvSpPr txBox="1"/>
          <p:nvPr/>
        </p:nvSpPr>
        <p:spPr>
          <a:xfrm>
            <a:off x="6197195" y="4350851"/>
            <a:ext cx="1703781" cy="1184940"/>
          </a:xfrm>
          <a:prstGeom prst="rect">
            <a:avLst/>
          </a:prstGeom>
          <a:noFill/>
        </p:spPr>
        <p:txBody>
          <a:bodyPr wrap="square" lIns="0" tIns="0" rIns="0" bIns="0" anchor="t">
            <a:spAutoFit/>
          </a:bodyPr>
          <a:lstStyle/>
          <a:p>
            <a:pPr algn="l"/>
            <a:r>
              <a:rPr lang="ja-JP" altLang="en-US" sz="1100" b="1" i="0" dirty="0">
                <a:solidFill>
                  <a:srgbClr val="0D0D0D"/>
                </a:solidFill>
                <a:effectLst/>
                <a:latin typeface="Noto Sans JP Medium" panose="020B0200000000000000" pitchFamily="50" charset="-128"/>
                <a:ea typeface="Noto Sans JP Medium" panose="020B0200000000000000" pitchFamily="50" charset="-128"/>
              </a:rPr>
              <a:t>減る業務</a:t>
            </a:r>
            <a:endParaRPr lang="ja-JP" altLang="en-US" sz="1100" b="0" i="0" dirty="0">
              <a:solidFill>
                <a:srgbClr val="0D0D0D"/>
              </a:solidFill>
              <a:effectLst/>
              <a:latin typeface="Noto Sans JP Medium" panose="020B0200000000000000" pitchFamily="50" charset="-128"/>
              <a:ea typeface="Noto Sans JP Medium" panose="020B0200000000000000" pitchFamily="50" charset="-128"/>
            </a:endParaRP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アラートの一次確認</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ログの単純検索</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定型的な障害切り分け</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手順書に沿った単純作業</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定型レポート作成</a:t>
            </a:r>
          </a:p>
          <a:p>
            <a:pPr algn="l">
              <a:buFont typeface="Arial" panose="020B0604020202020204" pitchFamily="34" charset="0"/>
              <a:buChar char="•"/>
            </a:pPr>
            <a:r>
              <a:rPr lang="en-US" altLang="ja-JP" sz="1100" b="0" i="0" dirty="0">
                <a:solidFill>
                  <a:srgbClr val="0D0D0D"/>
                </a:solidFill>
                <a:effectLst/>
                <a:latin typeface="Noto Sans JP Medium" panose="020B0200000000000000" pitchFamily="50" charset="-128"/>
                <a:ea typeface="Noto Sans JP Medium" panose="020B0200000000000000" pitchFamily="50" charset="-128"/>
              </a:rPr>
              <a:t>FAQ</a:t>
            </a: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対応</a:t>
            </a:r>
            <a:endParaRPr lang="en-US" altLang="ja-JP" sz="1100" b="0" i="0" dirty="0">
              <a:solidFill>
                <a:srgbClr val="0D0D0D"/>
              </a:solidFill>
              <a:effectLst/>
              <a:latin typeface="Noto Sans JP Medium" panose="020B0200000000000000" pitchFamily="50" charset="-128"/>
              <a:ea typeface="Noto Sans JP Medium" panose="020B0200000000000000" pitchFamily="50" charset="-128"/>
            </a:endParaRPr>
          </a:p>
        </p:txBody>
      </p:sp>
      <p:sp>
        <p:nvSpPr>
          <p:cNvPr id="43" name="テキスト ボックス 42">
            <a:extLst>
              <a:ext uri="{FF2B5EF4-FFF2-40B4-BE49-F238E27FC236}">
                <a16:creationId xmlns:a16="http://schemas.microsoft.com/office/drawing/2014/main" id="{6C5C6C14-3B29-4224-BDEA-4226FB964C23}"/>
              </a:ext>
            </a:extLst>
          </p:cNvPr>
          <p:cNvSpPr txBox="1"/>
          <p:nvPr/>
        </p:nvSpPr>
        <p:spPr>
          <a:xfrm>
            <a:off x="7937783" y="4282196"/>
            <a:ext cx="2064398" cy="1446550"/>
          </a:xfrm>
          <a:prstGeom prst="rect">
            <a:avLst/>
          </a:prstGeom>
          <a:noFill/>
        </p:spPr>
        <p:txBody>
          <a:bodyPr wrap="square">
            <a:spAutoFit/>
          </a:bodyPr>
          <a:lstStyle/>
          <a:p>
            <a:pPr algn="l"/>
            <a:r>
              <a:rPr lang="ja-JP" altLang="en-US" sz="1100" b="1" i="0" dirty="0">
                <a:solidFill>
                  <a:srgbClr val="0D0D0D"/>
                </a:solidFill>
                <a:effectLst/>
                <a:latin typeface="Noto Sans JP Medium" panose="020B0200000000000000" pitchFamily="50" charset="-128"/>
                <a:ea typeface="Noto Sans JP Medium" panose="020B0200000000000000" pitchFamily="50" charset="-128"/>
              </a:rPr>
              <a:t>増える</a:t>
            </a:r>
            <a:r>
              <a:rPr lang="ja-JP" altLang="en-US" sz="1100" b="1" dirty="0">
                <a:solidFill>
                  <a:srgbClr val="0D0D0D"/>
                </a:solidFill>
                <a:latin typeface="Noto Sans JP Medium" panose="020B0200000000000000" pitchFamily="50" charset="-128"/>
                <a:ea typeface="Noto Sans JP Medium" panose="020B0200000000000000" pitchFamily="50" charset="-128"/>
              </a:rPr>
              <a:t>業務</a:t>
            </a:r>
            <a:endParaRPr lang="ja-JP" altLang="en-US" sz="1100" b="0" i="0" dirty="0">
              <a:solidFill>
                <a:srgbClr val="0D0D0D"/>
              </a:solidFill>
              <a:effectLst/>
              <a:latin typeface="Noto Sans JP Medium" panose="020B0200000000000000" pitchFamily="50" charset="-128"/>
              <a:ea typeface="Noto Sans JP Medium" panose="020B0200000000000000" pitchFamily="50" charset="-128"/>
            </a:endParaRPr>
          </a:p>
          <a:p>
            <a:pPr algn="l">
              <a:buFont typeface="Arial" panose="020B0604020202020204" pitchFamily="34" charset="0"/>
              <a:buChar char="•"/>
            </a:pPr>
            <a:r>
              <a:rPr lang="en-US" altLang="ja-JP" sz="1100" b="0" i="0" dirty="0">
                <a:solidFill>
                  <a:srgbClr val="0D0D0D"/>
                </a:solidFill>
                <a:effectLst/>
                <a:latin typeface="Noto Sans JP Medium" panose="020B0200000000000000" pitchFamily="50" charset="-128"/>
                <a:ea typeface="Noto Sans JP Medium" panose="020B0200000000000000" pitchFamily="50" charset="-128"/>
              </a:rPr>
              <a:t>AI</a:t>
            </a: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・自動化基盤の設計</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自動化対象の選定</a:t>
            </a:r>
          </a:p>
          <a:p>
            <a:pPr algn="l">
              <a:buFont typeface="Arial" panose="020B0604020202020204" pitchFamily="34" charset="0"/>
              <a:buChar char="•"/>
            </a:pPr>
            <a:r>
              <a:rPr lang="en-US" altLang="ja-JP" sz="1100" b="0" i="0" dirty="0">
                <a:solidFill>
                  <a:srgbClr val="0D0D0D"/>
                </a:solidFill>
                <a:effectLst/>
                <a:latin typeface="Noto Sans JP Medium" panose="020B0200000000000000" pitchFamily="50" charset="-128"/>
                <a:ea typeface="Noto Sans JP Medium" panose="020B0200000000000000" pitchFamily="50" charset="-128"/>
              </a:rPr>
              <a:t>AI</a:t>
            </a: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の判断結果の検証</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権限・セキュリティ設計</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障害時の最終判断</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複雑な障害・例外対応</a:t>
            </a:r>
          </a:p>
          <a:p>
            <a:pPr algn="l">
              <a:buFont typeface="Arial" panose="020B0604020202020204" pitchFamily="34" charset="0"/>
              <a:buChar char="•"/>
            </a:pPr>
            <a:r>
              <a:rPr lang="ja-JP" altLang="en-US" sz="1100" b="0" i="0" dirty="0">
                <a:solidFill>
                  <a:srgbClr val="0D0D0D"/>
                </a:solidFill>
                <a:effectLst/>
                <a:latin typeface="Noto Sans JP Medium" panose="020B0200000000000000" pitchFamily="50" charset="-128"/>
                <a:ea typeface="Noto Sans JP Medium" panose="020B0200000000000000" pitchFamily="50" charset="-128"/>
              </a:rPr>
              <a:t>運用プロセスそのものの改善</a:t>
            </a:r>
          </a:p>
        </p:txBody>
      </p:sp>
      <p:sp>
        <p:nvSpPr>
          <p:cNvPr id="48" name="TextBox 10">
            <a:extLst>
              <a:ext uri="{FF2B5EF4-FFF2-40B4-BE49-F238E27FC236}">
                <a16:creationId xmlns:a16="http://schemas.microsoft.com/office/drawing/2014/main" id="{BA0CE0A8-DBD5-4418-A2DA-7C58BA04B750}"/>
              </a:ext>
            </a:extLst>
          </p:cNvPr>
          <p:cNvSpPr txBox="1"/>
          <p:nvPr/>
        </p:nvSpPr>
        <p:spPr>
          <a:xfrm>
            <a:off x="6473560" y="3937104"/>
            <a:ext cx="3509191" cy="246221"/>
          </a:xfrm>
          <a:prstGeom prst="rect">
            <a:avLst/>
          </a:prstGeom>
          <a:noFill/>
        </p:spPr>
        <p:txBody>
          <a:bodyPr wrap="square" lIns="0" tIns="0" rIns="0" bIns="0" anchor="t">
            <a:spAutoFit/>
          </a:bodyPr>
          <a:lstStyle/>
          <a:p>
            <a:pPr algn="l"/>
            <a:r>
              <a:rPr lang="ja-JP" altLang="en-US" sz="1600" b="1" i="0" u="none" dirty="0">
                <a:solidFill>
                  <a:srgbClr val="1E293B"/>
                </a:solidFill>
                <a:latin typeface="Noto Sans JP Black" panose="020B0200000000000000" pitchFamily="50" charset="-128"/>
                <a:ea typeface="Noto Sans JP Black" panose="020B0200000000000000" pitchFamily="50" charset="-128"/>
              </a:rPr>
              <a:t>業務の</a:t>
            </a:r>
            <a:r>
              <a:rPr sz="1600" b="1" i="0" u="none" dirty="0">
                <a:solidFill>
                  <a:srgbClr val="1E293B"/>
                </a:solidFill>
                <a:latin typeface="Noto Sans JP Black" panose="020B0200000000000000" pitchFamily="50" charset="-128"/>
                <a:ea typeface="Noto Sans JP Black" panose="020B0200000000000000" pitchFamily="50" charset="-128"/>
              </a:rPr>
              <a:t>変化</a:t>
            </a:r>
          </a:p>
        </p:txBody>
      </p:sp>
      <p:pic>
        <p:nvPicPr>
          <p:cNvPr id="49" name="Picture 19" descr="image.png">
            <a:extLst>
              <a:ext uri="{FF2B5EF4-FFF2-40B4-BE49-F238E27FC236}">
                <a16:creationId xmlns:a16="http://schemas.microsoft.com/office/drawing/2014/main" id="{C1C2E5BF-DAC7-4B71-BA81-8CF38923557A}"/>
              </a:ext>
            </a:extLst>
          </p:cNvPr>
          <p:cNvPicPr>
            <a:picLocks noChangeAspect="1"/>
          </p:cNvPicPr>
          <p:nvPr/>
        </p:nvPicPr>
        <p:blipFill>
          <a:blip r:embed="rId9"/>
          <a:stretch>
            <a:fillRect/>
          </a:stretch>
        </p:blipFill>
        <p:spPr>
          <a:xfrm>
            <a:off x="6197195" y="3957846"/>
            <a:ext cx="165739" cy="212857"/>
          </a:xfrm>
          <a:prstGeom prst="rect">
            <a:avLst/>
          </a:prstGeom>
        </p:spPr>
      </p:pic>
    </p:spTree>
    <p:extLst>
      <p:ext uri="{BB962C8B-B14F-4D97-AF65-F5344CB8AC3E}">
        <p14:creationId xmlns:p14="http://schemas.microsoft.com/office/powerpoint/2010/main" val="638548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23875" y="2387798"/>
            <a:ext cx="3587650" cy="2790825"/>
          </a:xfrm>
          <a:prstGeom prst="rect">
            <a:avLst/>
          </a:prstGeom>
        </p:spPr>
      </p:pic>
      <p:pic>
        <p:nvPicPr>
          <p:cNvPr id="3" name="Picture 2" descr="image.png"/>
          <p:cNvPicPr>
            <a:picLocks noChangeAspect="1"/>
          </p:cNvPicPr>
          <p:nvPr/>
        </p:nvPicPr>
        <p:blipFill>
          <a:blip r:embed="rId3"/>
          <a:stretch>
            <a:fillRect/>
          </a:stretch>
        </p:blipFill>
        <p:spPr>
          <a:xfrm>
            <a:off x="4302025" y="2387798"/>
            <a:ext cx="3587799" cy="2790825"/>
          </a:xfrm>
          <a:prstGeom prst="rect">
            <a:avLst/>
          </a:prstGeom>
        </p:spPr>
      </p:pic>
      <p:pic>
        <p:nvPicPr>
          <p:cNvPr id="4" name="Picture 3" descr="image.png"/>
          <p:cNvPicPr>
            <a:picLocks noChangeAspect="1"/>
          </p:cNvPicPr>
          <p:nvPr/>
        </p:nvPicPr>
        <p:blipFill>
          <a:blip r:embed="rId4"/>
          <a:stretch>
            <a:fillRect/>
          </a:stretch>
        </p:blipFill>
        <p:spPr>
          <a:xfrm>
            <a:off x="8080325" y="2387798"/>
            <a:ext cx="3587650" cy="2790825"/>
          </a:xfrm>
          <a:prstGeom prst="rect">
            <a:avLst/>
          </a:prstGeom>
        </p:spPr>
      </p:pic>
      <p:pic>
        <p:nvPicPr>
          <p:cNvPr id="5" name="Picture 4" descr="image.png"/>
          <p:cNvPicPr>
            <a:picLocks noChangeAspect="1"/>
          </p:cNvPicPr>
          <p:nvPr/>
        </p:nvPicPr>
        <p:blipFill>
          <a:blip r:embed="rId5"/>
          <a:stretch>
            <a:fillRect/>
          </a:stretch>
        </p:blipFill>
        <p:spPr>
          <a:xfrm>
            <a:off x="800100" y="3183135"/>
            <a:ext cx="3035200" cy="667943"/>
          </a:xfrm>
          <a:prstGeom prst="rect">
            <a:avLst/>
          </a:prstGeom>
        </p:spPr>
      </p:pic>
      <p:pic>
        <p:nvPicPr>
          <p:cNvPr id="6" name="Picture 5" descr="image.png"/>
          <p:cNvPicPr>
            <a:picLocks noChangeAspect="1"/>
          </p:cNvPicPr>
          <p:nvPr/>
        </p:nvPicPr>
        <p:blipFill>
          <a:blip r:embed="rId6"/>
          <a:stretch>
            <a:fillRect/>
          </a:stretch>
        </p:blipFill>
        <p:spPr>
          <a:xfrm>
            <a:off x="800100" y="3943350"/>
            <a:ext cx="3035200" cy="781050"/>
          </a:xfrm>
          <a:prstGeom prst="rect">
            <a:avLst/>
          </a:prstGeom>
        </p:spPr>
      </p:pic>
      <p:pic>
        <p:nvPicPr>
          <p:cNvPr id="8" name="Picture 7" descr="image.png"/>
          <p:cNvPicPr>
            <a:picLocks noChangeAspect="1"/>
          </p:cNvPicPr>
          <p:nvPr/>
        </p:nvPicPr>
        <p:blipFill>
          <a:blip r:embed="rId7"/>
          <a:stretch>
            <a:fillRect/>
          </a:stretch>
        </p:blipFill>
        <p:spPr>
          <a:xfrm>
            <a:off x="800100" y="2625923"/>
            <a:ext cx="381000" cy="381000"/>
          </a:xfrm>
          <a:prstGeom prst="rect">
            <a:avLst/>
          </a:prstGeom>
        </p:spPr>
      </p:pic>
      <p:sp>
        <p:nvSpPr>
          <p:cNvPr id="9" name="TextBox 8"/>
          <p:cNvSpPr txBox="1"/>
          <p:nvPr/>
        </p:nvSpPr>
        <p:spPr>
          <a:xfrm>
            <a:off x="1268117" y="2689264"/>
            <a:ext cx="2021477" cy="246221"/>
          </a:xfrm>
          <a:prstGeom prst="rect">
            <a:avLst/>
          </a:prstGeom>
          <a:noFill/>
        </p:spPr>
        <p:txBody>
          <a:bodyPr wrap="square" lIns="0" tIns="0" rIns="0" bIns="0" anchor="t">
            <a:spAutoFit/>
          </a:bodyPr>
          <a:lstStyle/>
          <a:p>
            <a:pPr algn="l"/>
            <a:r>
              <a:rPr sz="1600" b="1" i="0" u="none" dirty="0">
                <a:solidFill>
                  <a:srgbClr val="1E293B"/>
                </a:solidFill>
                <a:latin typeface="Noto Sans JP"/>
              </a:rPr>
              <a:t>開発スピードの激変</a:t>
            </a:r>
          </a:p>
        </p:txBody>
      </p:sp>
      <p:pic>
        <p:nvPicPr>
          <p:cNvPr id="10" name="Picture 9" descr="image.png"/>
          <p:cNvPicPr>
            <a:picLocks noChangeAspect="1"/>
          </p:cNvPicPr>
          <p:nvPr/>
        </p:nvPicPr>
        <p:blipFill>
          <a:blip r:embed="rId8"/>
          <a:stretch>
            <a:fillRect/>
          </a:stretch>
        </p:blipFill>
        <p:spPr>
          <a:xfrm>
            <a:off x="4578250" y="2625923"/>
            <a:ext cx="381000" cy="381000"/>
          </a:xfrm>
          <a:prstGeom prst="rect">
            <a:avLst/>
          </a:prstGeom>
        </p:spPr>
      </p:pic>
      <p:sp>
        <p:nvSpPr>
          <p:cNvPr id="11" name="TextBox 10"/>
          <p:cNvSpPr txBox="1"/>
          <p:nvPr/>
        </p:nvSpPr>
        <p:spPr>
          <a:xfrm>
            <a:off x="5074183" y="2694451"/>
            <a:ext cx="2158570" cy="246221"/>
          </a:xfrm>
          <a:prstGeom prst="rect">
            <a:avLst/>
          </a:prstGeom>
          <a:noFill/>
        </p:spPr>
        <p:txBody>
          <a:bodyPr wrap="square" lIns="0" tIns="0" rIns="0" bIns="0" anchor="t">
            <a:spAutoFit/>
          </a:bodyPr>
          <a:lstStyle/>
          <a:p>
            <a:pPr algn="l"/>
            <a:r>
              <a:rPr sz="1600" b="1" i="0" u="none" dirty="0">
                <a:solidFill>
                  <a:srgbClr val="1E293B"/>
                </a:solidFill>
                <a:latin typeface="Noto Sans JP"/>
              </a:rPr>
              <a:t>作業スタイルの変化</a:t>
            </a:r>
          </a:p>
        </p:txBody>
      </p:sp>
      <p:pic>
        <p:nvPicPr>
          <p:cNvPr id="12" name="Picture 11" descr="image.png"/>
          <p:cNvPicPr>
            <a:picLocks noChangeAspect="1"/>
          </p:cNvPicPr>
          <p:nvPr/>
        </p:nvPicPr>
        <p:blipFill>
          <a:blip r:embed="rId9"/>
          <a:stretch>
            <a:fillRect/>
          </a:stretch>
        </p:blipFill>
        <p:spPr>
          <a:xfrm>
            <a:off x="8356550" y="2625923"/>
            <a:ext cx="381000" cy="381000"/>
          </a:xfrm>
          <a:prstGeom prst="rect">
            <a:avLst/>
          </a:prstGeom>
        </p:spPr>
      </p:pic>
      <p:sp>
        <p:nvSpPr>
          <p:cNvPr id="13" name="TextBox 12"/>
          <p:cNvSpPr txBox="1"/>
          <p:nvPr/>
        </p:nvSpPr>
        <p:spPr>
          <a:xfrm>
            <a:off x="8861226" y="2694451"/>
            <a:ext cx="2530524" cy="246221"/>
          </a:xfrm>
          <a:prstGeom prst="rect">
            <a:avLst/>
          </a:prstGeom>
          <a:noFill/>
        </p:spPr>
        <p:txBody>
          <a:bodyPr wrap="square" lIns="0" tIns="0" rIns="0" bIns="0" anchor="t">
            <a:spAutoFit/>
          </a:bodyPr>
          <a:lstStyle/>
          <a:p>
            <a:pPr algn="l"/>
            <a:r>
              <a:rPr sz="1600" b="1" i="0" u="none" dirty="0">
                <a:solidFill>
                  <a:srgbClr val="1E293B"/>
                </a:solidFill>
                <a:latin typeface="Noto Sans JP"/>
              </a:rPr>
              <a:t>役割のシフト</a:t>
            </a:r>
          </a:p>
        </p:txBody>
      </p:sp>
      <p:sp>
        <p:nvSpPr>
          <p:cNvPr id="14" name="TextBox 13"/>
          <p:cNvSpPr txBox="1"/>
          <p:nvPr/>
        </p:nvSpPr>
        <p:spPr>
          <a:xfrm>
            <a:off x="8356550" y="3117513"/>
            <a:ext cx="3035200" cy="740844"/>
          </a:xfrm>
          <a:prstGeom prst="rect">
            <a:avLst/>
          </a:prstGeom>
          <a:noFill/>
        </p:spPr>
        <p:txBody>
          <a:bodyPr wrap="square" lIns="0" tIns="0" rIns="0" bIns="0" anchor="t">
            <a:spAutoFit/>
          </a:bodyPr>
          <a:lstStyle/>
          <a:p>
            <a:pPr algn="l">
              <a:lnSpc>
                <a:spcPts val="1976"/>
              </a:lnSpc>
            </a:pPr>
            <a:r>
              <a:rPr sz="1162" b="0" i="0" u="none" dirty="0">
                <a:solidFill>
                  <a:srgbClr val="334155"/>
                </a:solidFill>
                <a:latin typeface="Noto Sans JP Medium"/>
              </a:rPr>
              <a:t>手を動かす作業員から、</a:t>
            </a:r>
            <a:r>
              <a:rPr dirty="0"/>
              <a:t>
</a:t>
            </a:r>
            <a:r>
              <a:rPr sz="1162" b="0" i="0" u="none" dirty="0">
                <a:solidFill>
                  <a:srgbClr val="334155"/>
                </a:solidFill>
                <a:latin typeface="Noto Sans JP Medium"/>
              </a:rPr>
              <a:t> AIに正確な指示を出す</a:t>
            </a:r>
            <a:r>
              <a:rPr dirty="0"/>
              <a:t>
</a:t>
            </a:r>
            <a:r>
              <a:rPr sz="1162" b="1" i="0" u="none" dirty="0">
                <a:solidFill>
                  <a:srgbClr val="D97706"/>
                </a:solidFill>
                <a:latin typeface="Noto Sans JP"/>
              </a:rPr>
              <a:t>「指揮官」へ</a:t>
            </a:r>
          </a:p>
        </p:txBody>
      </p:sp>
      <p:pic>
        <p:nvPicPr>
          <p:cNvPr id="15" name="Picture 14" descr="image.png"/>
          <p:cNvPicPr>
            <a:picLocks noChangeAspect="1"/>
          </p:cNvPicPr>
          <p:nvPr/>
        </p:nvPicPr>
        <p:blipFill>
          <a:blip r:embed="rId10"/>
          <a:stretch>
            <a:fillRect/>
          </a:stretch>
        </p:blipFill>
        <p:spPr>
          <a:xfrm>
            <a:off x="923776" y="2730698"/>
            <a:ext cx="133498" cy="171450"/>
          </a:xfrm>
          <a:prstGeom prst="rect">
            <a:avLst/>
          </a:prstGeom>
        </p:spPr>
      </p:pic>
      <p:sp>
        <p:nvSpPr>
          <p:cNvPr id="16" name="TextBox 15"/>
          <p:cNvSpPr txBox="1"/>
          <p:nvPr/>
        </p:nvSpPr>
        <p:spPr>
          <a:xfrm>
            <a:off x="923925" y="3306960"/>
            <a:ext cx="839561" cy="184666"/>
          </a:xfrm>
          <a:prstGeom prst="rect">
            <a:avLst/>
          </a:prstGeom>
          <a:noFill/>
        </p:spPr>
        <p:txBody>
          <a:bodyPr wrap="square" lIns="0" tIns="0" rIns="0" bIns="0" anchor="t">
            <a:spAutoFit/>
          </a:bodyPr>
          <a:lstStyle/>
          <a:p>
            <a:pPr algn="l"/>
            <a:r>
              <a:rPr sz="1200" b="1" i="0" u="none" dirty="0">
                <a:solidFill>
                  <a:srgbClr val="64748B"/>
                </a:solidFill>
                <a:latin typeface="Noto Sans JP"/>
              </a:rPr>
              <a:t>従来</a:t>
            </a:r>
          </a:p>
        </p:txBody>
      </p:sp>
      <p:sp>
        <p:nvSpPr>
          <p:cNvPr id="17" name="TextBox 16"/>
          <p:cNvSpPr txBox="1"/>
          <p:nvPr/>
        </p:nvSpPr>
        <p:spPr>
          <a:xfrm>
            <a:off x="923925" y="3569917"/>
            <a:ext cx="2571750" cy="167290"/>
          </a:xfrm>
          <a:prstGeom prst="rect">
            <a:avLst/>
          </a:prstGeom>
          <a:noFill/>
        </p:spPr>
        <p:txBody>
          <a:bodyPr wrap="square" lIns="0" tIns="0" rIns="0" bIns="0" anchor="t">
            <a:spAutoFit/>
          </a:bodyPr>
          <a:lstStyle/>
          <a:p>
            <a:pPr algn="l"/>
            <a:r>
              <a:rPr sz="1087" b="0" i="0" u="none" dirty="0">
                <a:solidFill>
                  <a:srgbClr val="334155"/>
                </a:solidFill>
                <a:latin typeface="Noto Sans JP"/>
              </a:rPr>
              <a:t>数ヶ月かけて手作業でプログラムを作成</a:t>
            </a:r>
          </a:p>
        </p:txBody>
      </p:sp>
      <p:sp>
        <p:nvSpPr>
          <p:cNvPr id="18" name="TextBox 17"/>
          <p:cNvSpPr txBox="1"/>
          <p:nvPr/>
        </p:nvSpPr>
        <p:spPr>
          <a:xfrm>
            <a:off x="923925" y="4032349"/>
            <a:ext cx="839561" cy="184666"/>
          </a:xfrm>
          <a:prstGeom prst="rect">
            <a:avLst/>
          </a:prstGeom>
          <a:noFill/>
        </p:spPr>
        <p:txBody>
          <a:bodyPr wrap="square" lIns="0" tIns="0" rIns="0" bIns="0" anchor="t">
            <a:spAutoFit/>
          </a:bodyPr>
          <a:lstStyle/>
          <a:p>
            <a:pPr algn="l"/>
            <a:r>
              <a:rPr sz="1200" b="1" i="0" u="none" dirty="0">
                <a:solidFill>
                  <a:srgbClr val="2563EB"/>
                </a:solidFill>
                <a:latin typeface="Noto Sans JP"/>
              </a:rPr>
              <a:t>現在</a:t>
            </a:r>
          </a:p>
        </p:txBody>
      </p:sp>
      <p:sp>
        <p:nvSpPr>
          <p:cNvPr id="19" name="TextBox 18"/>
          <p:cNvSpPr txBox="1"/>
          <p:nvPr/>
        </p:nvSpPr>
        <p:spPr>
          <a:xfrm>
            <a:off x="923925" y="4290349"/>
            <a:ext cx="2709862" cy="333375"/>
          </a:xfrm>
          <a:prstGeom prst="rect">
            <a:avLst/>
          </a:prstGeom>
          <a:noFill/>
        </p:spPr>
        <p:txBody>
          <a:bodyPr wrap="square" lIns="0" tIns="0" rIns="0" bIns="0" anchor="t">
            <a:spAutoFit/>
          </a:bodyPr>
          <a:lstStyle/>
          <a:p>
            <a:pPr algn="l"/>
            <a:r>
              <a:rPr sz="1087" b="1" i="0" u="none" dirty="0">
                <a:solidFill>
                  <a:srgbClr val="334155"/>
                </a:solidFill>
                <a:latin typeface="Noto Sans JP"/>
              </a:rPr>
              <a:t>AIに指示を出し、骨組みを数秒〜数分で自動生成</a:t>
            </a:r>
          </a:p>
        </p:txBody>
      </p:sp>
      <p:pic>
        <p:nvPicPr>
          <p:cNvPr id="20" name="Picture 19" descr="image.png"/>
          <p:cNvPicPr>
            <a:picLocks noChangeAspect="1"/>
          </p:cNvPicPr>
          <p:nvPr/>
        </p:nvPicPr>
        <p:blipFill>
          <a:blip r:embed="rId11"/>
          <a:stretch>
            <a:fillRect/>
          </a:stretch>
        </p:blipFill>
        <p:spPr>
          <a:xfrm>
            <a:off x="4701926" y="2730698"/>
            <a:ext cx="133498" cy="171450"/>
          </a:xfrm>
          <a:prstGeom prst="rect">
            <a:avLst/>
          </a:prstGeom>
        </p:spPr>
      </p:pic>
      <p:sp>
        <p:nvSpPr>
          <p:cNvPr id="21" name="TextBox 20"/>
          <p:cNvSpPr txBox="1"/>
          <p:nvPr/>
        </p:nvSpPr>
        <p:spPr>
          <a:xfrm>
            <a:off x="4768750" y="3135915"/>
            <a:ext cx="2844849" cy="218265"/>
          </a:xfrm>
          <a:prstGeom prst="rect">
            <a:avLst/>
          </a:prstGeom>
          <a:noFill/>
        </p:spPr>
        <p:txBody>
          <a:bodyPr wrap="square" lIns="0" tIns="0" rIns="0" bIns="0" anchor="t">
            <a:spAutoFit/>
          </a:bodyPr>
          <a:lstStyle/>
          <a:p>
            <a:pPr algn="l">
              <a:lnSpc>
                <a:spcPts val="1918"/>
              </a:lnSpc>
            </a:pPr>
            <a:r>
              <a:rPr sz="1162" b="0" i="0" u="none" dirty="0">
                <a:solidFill>
                  <a:srgbClr val="334155"/>
                </a:solidFill>
                <a:latin typeface="Noto Sans JP Medium"/>
              </a:rPr>
              <a:t>ゼロからコードを書く作業が大幅に減少</a:t>
            </a:r>
          </a:p>
        </p:txBody>
      </p:sp>
      <p:sp>
        <p:nvSpPr>
          <p:cNvPr id="22" name="TextBox 21"/>
          <p:cNvSpPr txBox="1"/>
          <p:nvPr/>
        </p:nvSpPr>
        <p:spPr>
          <a:xfrm>
            <a:off x="4768750" y="3474648"/>
            <a:ext cx="2844849" cy="461921"/>
          </a:xfrm>
          <a:prstGeom prst="rect">
            <a:avLst/>
          </a:prstGeom>
          <a:noFill/>
        </p:spPr>
        <p:txBody>
          <a:bodyPr wrap="square" lIns="0" tIns="0" rIns="0" bIns="0" anchor="t">
            <a:spAutoFit/>
          </a:bodyPr>
          <a:lstStyle/>
          <a:p>
            <a:pPr algn="l">
              <a:lnSpc>
                <a:spcPts val="1918"/>
              </a:lnSpc>
            </a:pPr>
            <a:r>
              <a:rPr sz="1162" b="0" i="0" u="none" dirty="0">
                <a:solidFill>
                  <a:srgbClr val="334155"/>
                </a:solidFill>
                <a:latin typeface="Noto Sans JP Medium"/>
              </a:rPr>
              <a:t>AIが出した成果物を</a:t>
            </a:r>
            <a:r>
              <a:rPr sz="1162" b="1" i="0" u="none" dirty="0">
                <a:solidFill>
                  <a:srgbClr val="0F172A"/>
                </a:solidFill>
                <a:latin typeface="Noto Sans JP"/>
              </a:rPr>
              <a:t>「修正・確認・調整」するスタイル</a:t>
            </a:r>
            <a:r>
              <a:rPr sz="1162" b="0" i="0" u="none" dirty="0">
                <a:solidFill>
                  <a:srgbClr val="334155"/>
                </a:solidFill>
                <a:latin typeface="Noto Sans JP Medium"/>
              </a:rPr>
              <a:t>が主流に</a:t>
            </a:r>
          </a:p>
        </p:txBody>
      </p:sp>
      <p:pic>
        <p:nvPicPr>
          <p:cNvPr id="23" name="Picture 22" descr="image.png"/>
          <p:cNvPicPr>
            <a:picLocks noChangeAspect="1"/>
          </p:cNvPicPr>
          <p:nvPr/>
        </p:nvPicPr>
        <p:blipFill>
          <a:blip r:embed="rId12"/>
          <a:stretch>
            <a:fillRect/>
          </a:stretch>
        </p:blipFill>
        <p:spPr>
          <a:xfrm>
            <a:off x="8480226" y="2730698"/>
            <a:ext cx="133498" cy="171450"/>
          </a:xfrm>
          <a:prstGeom prst="rect">
            <a:avLst/>
          </a:prstGeom>
        </p:spPr>
      </p:pic>
      <p:pic>
        <p:nvPicPr>
          <p:cNvPr id="24" name="Picture 23" descr="image.png"/>
          <p:cNvPicPr>
            <a:picLocks noChangeAspect="1"/>
          </p:cNvPicPr>
          <p:nvPr/>
        </p:nvPicPr>
        <p:blipFill>
          <a:blip r:embed="rId13"/>
          <a:stretch>
            <a:fillRect/>
          </a:stretch>
        </p:blipFill>
        <p:spPr>
          <a:xfrm>
            <a:off x="4578250" y="3171634"/>
            <a:ext cx="114895" cy="171450"/>
          </a:xfrm>
          <a:prstGeom prst="rect">
            <a:avLst/>
          </a:prstGeom>
        </p:spPr>
      </p:pic>
      <p:pic>
        <p:nvPicPr>
          <p:cNvPr id="25" name="Picture 24" descr="image.png"/>
          <p:cNvPicPr>
            <a:picLocks noChangeAspect="1"/>
          </p:cNvPicPr>
          <p:nvPr/>
        </p:nvPicPr>
        <p:blipFill>
          <a:blip r:embed="rId13"/>
          <a:stretch>
            <a:fillRect/>
          </a:stretch>
        </p:blipFill>
        <p:spPr>
          <a:xfrm>
            <a:off x="4578250" y="3510367"/>
            <a:ext cx="114895" cy="171450"/>
          </a:xfrm>
          <a:prstGeom prst="rect">
            <a:avLst/>
          </a:prstGeom>
        </p:spPr>
      </p:pic>
      <p:sp>
        <p:nvSpPr>
          <p:cNvPr id="26" name="TextBox 25"/>
          <p:cNvSpPr txBox="1"/>
          <p:nvPr/>
        </p:nvSpPr>
        <p:spPr>
          <a:xfrm>
            <a:off x="523875" y="488651"/>
            <a:ext cx="11668125" cy="325538"/>
          </a:xfrm>
          <a:prstGeom prst="rect">
            <a:avLst/>
          </a:prstGeom>
          <a:noFill/>
        </p:spPr>
        <p:txBody>
          <a:bodyPr wrap="square" lIns="0" tIns="0" rIns="0" bIns="0" anchor="ctr">
            <a:spAutoFit/>
          </a:bodyPr>
          <a:lstStyle/>
          <a:p>
            <a:pPr algn="l">
              <a:lnSpc>
                <a:spcPts val="2729"/>
              </a:lnSpc>
            </a:pPr>
            <a:r>
              <a:rPr sz="2100" b="1" i="0" u="none" dirty="0">
                <a:solidFill>
                  <a:srgbClr val="0F172A"/>
                </a:solidFill>
                <a:latin typeface="Noto Sans JP ExtraBold"/>
              </a:rPr>
              <a:t>現状 </a:t>
            </a:r>
            <a:r>
              <a:rPr lang="ja-JP" altLang="en-US" sz="2100" b="1" i="0" u="none" dirty="0">
                <a:solidFill>
                  <a:srgbClr val="0F172A"/>
                </a:solidFill>
                <a:latin typeface="Noto Sans JP ExtraBold"/>
              </a:rPr>
              <a:t>（</a:t>
            </a:r>
            <a:r>
              <a:rPr sz="2100" b="1" i="0" u="none" dirty="0">
                <a:solidFill>
                  <a:srgbClr val="0F172A"/>
                </a:solidFill>
                <a:latin typeface="Noto Sans JP ExtraBold"/>
              </a:rPr>
              <a:t>開発</a:t>
            </a:r>
            <a:r>
              <a:rPr lang="ja-JP" altLang="en-US" sz="2100" b="1" i="0" u="none" dirty="0">
                <a:solidFill>
                  <a:srgbClr val="0F172A"/>
                </a:solidFill>
                <a:latin typeface="Noto Sans JP ExtraBold"/>
              </a:rPr>
              <a:t>）</a:t>
            </a:r>
            <a:endParaRPr sz="2100" b="1" i="0" u="none" dirty="0">
              <a:solidFill>
                <a:srgbClr val="0F172A"/>
              </a:solidFill>
              <a:latin typeface="Noto Sans JP ExtraBold"/>
            </a:endParaRPr>
          </a:p>
        </p:txBody>
      </p:sp>
      <p:sp>
        <p:nvSpPr>
          <p:cNvPr id="27" name="Rectangle 26"/>
          <p:cNvSpPr/>
          <p:nvPr/>
        </p:nvSpPr>
        <p:spPr>
          <a:xfrm>
            <a:off x="523875" y="889545"/>
            <a:ext cx="111442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3" name="Rounded Rectangle 2"/>
          <p:cNvSpPr/>
          <p:nvPr/>
        </p:nvSpPr>
        <p:spPr>
          <a:xfrm>
            <a:off x="523875" y="1863033"/>
            <a:ext cx="11144250" cy="1689791"/>
          </a:xfrm>
          <a:prstGeom prst="roundRect">
            <a:avLst>
              <a:gd name="adj" fmla="val 511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2975" y="2111824"/>
            <a:ext cx="10553700" cy="230832"/>
          </a:xfrm>
          <a:prstGeom prst="rect">
            <a:avLst/>
          </a:prstGeom>
          <a:noFill/>
        </p:spPr>
        <p:txBody>
          <a:bodyPr wrap="square" lIns="0" tIns="0" rIns="0" bIns="0" anchor="t">
            <a:spAutoFit/>
          </a:bodyPr>
          <a:lstStyle/>
          <a:p>
            <a:pPr algn="l">
              <a:lnSpc>
                <a:spcPts val="1800"/>
              </a:lnSpc>
            </a:pPr>
            <a:r>
              <a:rPr sz="1600" b="1" i="0" u="none" dirty="0">
                <a:solidFill>
                  <a:srgbClr val="0F172A"/>
                </a:solidFill>
                <a:latin typeface="Noto Sans JP"/>
              </a:rPr>
              <a:t>ITエンジニアの仕事が減る可能性</a:t>
            </a:r>
            <a:endParaRPr lang="en-US" sz="1600" b="0" i="0" u="none" dirty="0">
              <a:solidFill>
                <a:srgbClr val="334155"/>
              </a:solidFill>
              <a:latin typeface="Noto Sans JP Medium"/>
            </a:endParaRPr>
          </a:p>
        </p:txBody>
      </p:sp>
      <p:sp>
        <p:nvSpPr>
          <p:cNvPr id="5" name="Rounded Rectangle 4"/>
          <p:cNvSpPr/>
          <p:nvPr/>
        </p:nvSpPr>
        <p:spPr>
          <a:xfrm>
            <a:off x="523875" y="3667125"/>
            <a:ext cx="11144250" cy="803820"/>
          </a:xfrm>
          <a:prstGeom prst="roundRect">
            <a:avLst>
              <a:gd name="adj" fmla="val 947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2975" y="3800475"/>
            <a:ext cx="10553700" cy="230832"/>
          </a:xfrm>
          <a:prstGeom prst="rect">
            <a:avLst/>
          </a:prstGeom>
          <a:noFill/>
        </p:spPr>
        <p:txBody>
          <a:bodyPr wrap="square" lIns="0" tIns="0" rIns="0" bIns="0" anchor="t">
            <a:spAutoFit/>
          </a:bodyPr>
          <a:lstStyle/>
          <a:p>
            <a:pPr algn="l">
              <a:lnSpc>
                <a:spcPts val="1800"/>
              </a:lnSpc>
            </a:pPr>
            <a:r>
              <a:rPr sz="1600" b="1" i="0" u="none" dirty="0">
                <a:solidFill>
                  <a:srgbClr val="0F172A"/>
                </a:solidFill>
                <a:latin typeface="Noto Sans JP"/>
              </a:rPr>
              <a:t>若手育成・スキルの空洞化</a:t>
            </a:r>
            <a:endParaRPr sz="1125" b="0" i="0" u="none" dirty="0">
              <a:solidFill>
                <a:srgbClr val="334155"/>
              </a:solidFill>
              <a:latin typeface="Noto Sans JP Medium"/>
            </a:endParaRPr>
          </a:p>
        </p:txBody>
      </p:sp>
      <p:sp>
        <p:nvSpPr>
          <p:cNvPr id="7" name="Rounded Rectangle 6"/>
          <p:cNvSpPr/>
          <p:nvPr/>
        </p:nvSpPr>
        <p:spPr>
          <a:xfrm>
            <a:off x="523875" y="4585245"/>
            <a:ext cx="11144250" cy="803820"/>
          </a:xfrm>
          <a:prstGeom prst="roundRect">
            <a:avLst>
              <a:gd name="adj" fmla="val 947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2975" y="4718595"/>
            <a:ext cx="10553700" cy="230832"/>
          </a:xfrm>
          <a:prstGeom prst="rect">
            <a:avLst/>
          </a:prstGeom>
          <a:noFill/>
        </p:spPr>
        <p:txBody>
          <a:bodyPr wrap="square" lIns="0" tIns="0" rIns="0" bIns="0" anchor="t">
            <a:spAutoFit/>
          </a:bodyPr>
          <a:lstStyle/>
          <a:p>
            <a:pPr algn="l">
              <a:lnSpc>
                <a:spcPts val="1800"/>
              </a:lnSpc>
            </a:pPr>
            <a:r>
              <a:rPr sz="1600" b="1" i="0" u="none" dirty="0">
                <a:solidFill>
                  <a:srgbClr val="0F172A"/>
                </a:solidFill>
                <a:latin typeface="Noto Sans JP"/>
              </a:rPr>
              <a:t>AIの不完全さと責任</a:t>
            </a:r>
            <a:endParaRPr sz="1125" b="0" i="0" u="none" dirty="0">
              <a:solidFill>
                <a:srgbClr val="334155"/>
              </a:solidFill>
              <a:latin typeface="Noto Sans JP Medium"/>
            </a:endParaRPr>
          </a:p>
        </p:txBody>
      </p:sp>
      <p:sp>
        <p:nvSpPr>
          <p:cNvPr id="9" name="Rectangle 8"/>
          <p:cNvSpPr/>
          <p:nvPr/>
        </p:nvSpPr>
        <p:spPr>
          <a:xfrm>
            <a:off x="523875" y="3543300"/>
            <a:ext cx="11144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3875" y="4461420"/>
            <a:ext cx="11144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3875" y="5379541"/>
            <a:ext cx="11144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2"/>
          <a:stretch>
            <a:fillRect/>
          </a:stretch>
        </p:blipFill>
        <p:spPr>
          <a:xfrm>
            <a:off x="685800" y="2126706"/>
            <a:ext cx="133498" cy="200025"/>
          </a:xfrm>
          <a:prstGeom prst="rect">
            <a:avLst/>
          </a:prstGeom>
        </p:spPr>
      </p:pic>
      <p:pic>
        <p:nvPicPr>
          <p:cNvPr id="13" name="Picture 12" descr="image.png"/>
          <p:cNvPicPr>
            <a:picLocks noChangeAspect="1"/>
          </p:cNvPicPr>
          <p:nvPr/>
        </p:nvPicPr>
        <p:blipFill>
          <a:blip r:embed="rId3"/>
          <a:stretch>
            <a:fillRect/>
          </a:stretch>
        </p:blipFill>
        <p:spPr>
          <a:xfrm>
            <a:off x="685800" y="3814762"/>
            <a:ext cx="133498" cy="200025"/>
          </a:xfrm>
          <a:prstGeom prst="rect">
            <a:avLst/>
          </a:prstGeom>
        </p:spPr>
      </p:pic>
      <p:pic>
        <p:nvPicPr>
          <p:cNvPr id="14" name="Picture 13" descr="image.png"/>
          <p:cNvPicPr>
            <a:picLocks noChangeAspect="1"/>
          </p:cNvPicPr>
          <p:nvPr/>
        </p:nvPicPr>
        <p:blipFill>
          <a:blip r:embed="rId4"/>
          <a:stretch>
            <a:fillRect/>
          </a:stretch>
        </p:blipFill>
        <p:spPr>
          <a:xfrm>
            <a:off x="685800" y="4732883"/>
            <a:ext cx="133498" cy="200025"/>
          </a:xfrm>
          <a:prstGeom prst="rect">
            <a:avLst/>
          </a:prstGeom>
        </p:spPr>
      </p:pic>
      <p:sp>
        <p:nvSpPr>
          <p:cNvPr id="15" name="TextBox 14"/>
          <p:cNvSpPr txBox="1"/>
          <p:nvPr/>
        </p:nvSpPr>
        <p:spPr>
          <a:xfrm>
            <a:off x="523875" y="461818"/>
            <a:ext cx="11668125" cy="325538"/>
          </a:xfrm>
          <a:prstGeom prst="rect">
            <a:avLst/>
          </a:prstGeom>
          <a:noFill/>
        </p:spPr>
        <p:txBody>
          <a:bodyPr wrap="square" lIns="0" tIns="0" rIns="0" bIns="0" anchor="ctr">
            <a:spAutoFit/>
          </a:bodyPr>
          <a:lstStyle/>
          <a:p>
            <a:pPr algn="l">
              <a:lnSpc>
                <a:spcPts val="2729"/>
              </a:lnSpc>
            </a:pPr>
            <a:r>
              <a:rPr sz="2100" b="1" i="0" u="none" dirty="0">
                <a:solidFill>
                  <a:srgbClr val="0F172A"/>
                </a:solidFill>
                <a:latin typeface="Noto Sans JP ExtraBold"/>
              </a:rPr>
              <a:t>懸念</a:t>
            </a:r>
          </a:p>
        </p:txBody>
      </p:sp>
      <p:sp>
        <p:nvSpPr>
          <p:cNvPr id="16" name="Rectangle 15"/>
          <p:cNvSpPr/>
          <p:nvPr/>
        </p:nvSpPr>
        <p:spPr>
          <a:xfrm>
            <a:off x="523875" y="889545"/>
            <a:ext cx="111442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3">
            <a:extLst>
              <a:ext uri="{FF2B5EF4-FFF2-40B4-BE49-F238E27FC236}">
                <a16:creationId xmlns:a16="http://schemas.microsoft.com/office/drawing/2014/main" id="{9A33E7F6-5EDF-4AE0-B863-CB246F9B0ADB}"/>
              </a:ext>
            </a:extLst>
          </p:cNvPr>
          <p:cNvSpPr txBox="1"/>
          <p:nvPr/>
        </p:nvSpPr>
        <p:spPr>
          <a:xfrm>
            <a:off x="942975" y="2456956"/>
            <a:ext cx="10553700" cy="900055"/>
          </a:xfrm>
          <a:prstGeom prst="rect">
            <a:avLst/>
          </a:prstGeom>
          <a:noFill/>
        </p:spPr>
        <p:txBody>
          <a:bodyPr wrap="square" lIns="0" tIns="0" rIns="0" bIns="0" anchor="t">
            <a:spAutoFit/>
          </a:bodyPr>
          <a:lstStyle/>
          <a:p>
            <a:pPr algn="l">
              <a:lnSpc>
                <a:spcPts val="1800"/>
              </a:lnSpc>
            </a:pPr>
            <a:r>
              <a:rPr sz="1200" b="0" i="0" u="none" dirty="0">
                <a:solidFill>
                  <a:srgbClr val="334155"/>
                </a:solidFill>
                <a:latin typeface="Noto Sans JP Medium"/>
              </a:rPr>
              <a:t>コーディング、テスト、ドキュメント作成、問い合わせ対応など、これまで若手エンジニアが担当していた定型業務をAIが代替しやすくなっています。</a:t>
            </a:r>
            <a:endParaRPr lang="en-US" sz="1200" b="0" i="0" u="none" dirty="0">
              <a:solidFill>
                <a:srgbClr val="334155"/>
              </a:solidFill>
              <a:latin typeface="Noto Sans JP Medium"/>
            </a:endParaRPr>
          </a:p>
          <a:p>
            <a:pPr algn="l">
              <a:lnSpc>
                <a:spcPts val="1800"/>
              </a:lnSpc>
            </a:pPr>
            <a:r>
              <a:rPr sz="1200" b="0" i="0" u="none" dirty="0">
                <a:solidFill>
                  <a:srgbClr val="334155"/>
                </a:solidFill>
                <a:latin typeface="Noto Sans JP Medium"/>
              </a:rPr>
              <a:t>一方で、AIを導入・管理する仕事や、要件定義・設計・顧客折衝などの重要性は高まります。</a:t>
            </a:r>
            <a:r>
              <a:rPr sz="1200" dirty="0"/>
              <a:t>
</a:t>
            </a:r>
            <a:r>
              <a:rPr sz="1200" b="0" i="0" u="none" dirty="0">
                <a:solidFill>
                  <a:srgbClr val="334155"/>
                </a:solidFill>
                <a:latin typeface="Noto Sans JP Medium"/>
              </a:rPr>
              <a:t>そのため「仕事そのものがなくなる」というより、エンジニアに求められるスキルが急速に変化することが懸念されています。</a:t>
            </a:r>
            <a:endParaRPr lang="en-US" sz="1200" b="0" i="0" u="none" dirty="0">
              <a:solidFill>
                <a:srgbClr val="334155"/>
              </a:solidFill>
              <a:latin typeface="Noto Sans JP Medium"/>
            </a:endParaRPr>
          </a:p>
          <a:p>
            <a:pPr algn="l">
              <a:lnSpc>
                <a:spcPts val="1800"/>
              </a:lnSpc>
            </a:pPr>
            <a:r>
              <a:rPr sz="1200" b="0" i="0" u="none" dirty="0">
                <a:solidFill>
                  <a:srgbClr val="334155"/>
                </a:solidFill>
                <a:latin typeface="Noto Sans JP Medium"/>
              </a:rPr>
              <a:t>実際、海外のIT業界ではAIによる自動化と採用抑制の影響が報じられている。</a:t>
            </a:r>
          </a:p>
        </p:txBody>
      </p:sp>
      <p:sp>
        <p:nvSpPr>
          <p:cNvPr id="18" name="TextBox 5">
            <a:extLst>
              <a:ext uri="{FF2B5EF4-FFF2-40B4-BE49-F238E27FC236}">
                <a16:creationId xmlns:a16="http://schemas.microsoft.com/office/drawing/2014/main" id="{1AD39513-7932-4157-9931-2F3B23328219}"/>
              </a:ext>
            </a:extLst>
          </p:cNvPr>
          <p:cNvSpPr txBox="1"/>
          <p:nvPr/>
        </p:nvSpPr>
        <p:spPr>
          <a:xfrm>
            <a:off x="942975" y="4113890"/>
            <a:ext cx="10553700" cy="209866"/>
          </a:xfrm>
          <a:prstGeom prst="rect">
            <a:avLst/>
          </a:prstGeom>
          <a:noFill/>
        </p:spPr>
        <p:txBody>
          <a:bodyPr wrap="square" lIns="0" tIns="0" rIns="0" bIns="0" anchor="t">
            <a:spAutoFit/>
          </a:bodyPr>
          <a:lstStyle/>
          <a:p>
            <a:pPr algn="l">
              <a:lnSpc>
                <a:spcPts val="1800"/>
              </a:lnSpc>
            </a:pPr>
            <a:r>
              <a:rPr sz="1200" b="0" i="0" u="none" dirty="0">
                <a:solidFill>
                  <a:srgbClr val="334155"/>
                </a:solidFill>
                <a:latin typeface="Noto Sans JP Medium"/>
              </a:rPr>
              <a:t>これまで下積みで行っていた単純な作成業務をAIが担当。若手が基礎的な技術・構造を学ぶ機会が減る懸念。</a:t>
            </a:r>
          </a:p>
        </p:txBody>
      </p:sp>
      <p:sp>
        <p:nvSpPr>
          <p:cNvPr id="19" name="TextBox 7">
            <a:extLst>
              <a:ext uri="{FF2B5EF4-FFF2-40B4-BE49-F238E27FC236}">
                <a16:creationId xmlns:a16="http://schemas.microsoft.com/office/drawing/2014/main" id="{E9152EF3-A7A0-46A0-8685-9E21354E8547}"/>
              </a:ext>
            </a:extLst>
          </p:cNvPr>
          <p:cNvSpPr txBox="1"/>
          <p:nvPr/>
        </p:nvSpPr>
        <p:spPr>
          <a:xfrm>
            <a:off x="942975" y="5013118"/>
            <a:ext cx="10553700" cy="209866"/>
          </a:xfrm>
          <a:prstGeom prst="rect">
            <a:avLst/>
          </a:prstGeom>
          <a:noFill/>
        </p:spPr>
        <p:txBody>
          <a:bodyPr wrap="square" lIns="0" tIns="0" rIns="0" bIns="0" anchor="t">
            <a:spAutoFit/>
          </a:bodyPr>
          <a:lstStyle/>
          <a:p>
            <a:pPr algn="l">
              <a:lnSpc>
                <a:spcPts val="1800"/>
              </a:lnSpc>
            </a:pPr>
            <a:r>
              <a:rPr sz="1200" b="0" i="0" u="none" dirty="0">
                <a:solidFill>
                  <a:srgbClr val="334155"/>
                </a:solidFill>
                <a:latin typeface="Noto Sans JP Medium"/>
              </a:rPr>
              <a:t>AIが堂々と間違いをつく「ハルシネーション」のリスク。最終責任は人間が負う。</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3" name="Rounded Rectangle 2"/>
          <p:cNvSpPr/>
          <p:nvPr/>
        </p:nvSpPr>
        <p:spPr>
          <a:xfrm>
            <a:off x="523875" y="2622351"/>
            <a:ext cx="11144250" cy="1664493"/>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917106076"/>
              </p:ext>
            </p:extLst>
          </p:nvPr>
        </p:nvGraphicFramePr>
        <p:xfrm>
          <a:off x="601979" y="2641401"/>
          <a:ext cx="10999469" cy="1645443"/>
        </p:xfrm>
        <a:graphic>
          <a:graphicData uri="http://schemas.openxmlformats.org/drawingml/2006/table">
            <a:tbl>
              <a:tblPr firstRow="1" bandRow="1">
                <a:tableStyleId>{5C22544A-7EE6-4342-B048-85BDC9FD1C3A}</a:tableStyleId>
              </a:tblPr>
              <a:tblGrid>
                <a:gridCol w="1633616">
                  <a:extLst>
                    <a:ext uri="{9D8B030D-6E8A-4147-A177-3AD203B41FA5}">
                      <a16:colId xmlns:a16="http://schemas.microsoft.com/office/drawing/2014/main" val="20000"/>
                    </a:ext>
                  </a:extLst>
                </a:gridCol>
                <a:gridCol w="1387294">
                  <a:extLst>
                    <a:ext uri="{9D8B030D-6E8A-4147-A177-3AD203B41FA5}">
                      <a16:colId xmlns:a16="http://schemas.microsoft.com/office/drawing/2014/main" val="20001"/>
                    </a:ext>
                  </a:extLst>
                </a:gridCol>
                <a:gridCol w="1192766">
                  <a:extLst>
                    <a:ext uri="{9D8B030D-6E8A-4147-A177-3AD203B41FA5}">
                      <a16:colId xmlns:a16="http://schemas.microsoft.com/office/drawing/2014/main" val="20002"/>
                    </a:ext>
                  </a:extLst>
                </a:gridCol>
                <a:gridCol w="803860">
                  <a:extLst>
                    <a:ext uri="{9D8B030D-6E8A-4147-A177-3AD203B41FA5}">
                      <a16:colId xmlns:a16="http://schemas.microsoft.com/office/drawing/2014/main" val="20003"/>
                    </a:ext>
                  </a:extLst>
                </a:gridCol>
                <a:gridCol w="1387294">
                  <a:extLst>
                    <a:ext uri="{9D8B030D-6E8A-4147-A177-3AD203B41FA5}">
                      <a16:colId xmlns:a16="http://schemas.microsoft.com/office/drawing/2014/main" val="20004"/>
                    </a:ext>
                  </a:extLst>
                </a:gridCol>
                <a:gridCol w="998239">
                  <a:extLst>
                    <a:ext uri="{9D8B030D-6E8A-4147-A177-3AD203B41FA5}">
                      <a16:colId xmlns:a16="http://schemas.microsoft.com/office/drawing/2014/main" val="20005"/>
                    </a:ext>
                  </a:extLst>
                </a:gridCol>
                <a:gridCol w="1776349">
                  <a:extLst>
                    <a:ext uri="{9D8B030D-6E8A-4147-A177-3AD203B41FA5}">
                      <a16:colId xmlns:a16="http://schemas.microsoft.com/office/drawing/2014/main" val="20006"/>
                    </a:ext>
                  </a:extLst>
                </a:gridCol>
                <a:gridCol w="1820051">
                  <a:extLst>
                    <a:ext uri="{9D8B030D-6E8A-4147-A177-3AD203B41FA5}">
                      <a16:colId xmlns:a16="http://schemas.microsoft.com/office/drawing/2014/main" val="20007"/>
                    </a:ext>
                  </a:extLst>
                </a:gridCol>
              </a:tblGrid>
              <a:tr h="548481">
                <a:tc>
                  <a:txBody>
                    <a:bodyPr/>
                    <a:lstStyle/>
                    <a:p>
                      <a:pPr algn="l"/>
                      <a:r>
                        <a:rPr sz="1200" b="1" i="0" u="none" dirty="0">
                          <a:solidFill>
                            <a:srgbClr val="0F172A"/>
                          </a:solidFill>
                          <a:latin typeface="Noto Sans JP"/>
                        </a:rPr>
                        <a:t>領域 / 工程</a:t>
                      </a:r>
                    </a:p>
                  </a:txBody>
                  <a:tcPr marL="63500" marR="63500" marT="25400" marB="25400" anchor="ctr">
                    <a:lnL>
                      <a:noFill/>
                    </a:lnL>
                    <a:lnR>
                      <a:noFill/>
                    </a:lnR>
                    <a:lnT>
                      <a:noFill/>
                    </a:lnT>
                    <a:lnB>
                      <a:noFill/>
                    </a:lnB>
                    <a:solidFill>
                      <a:srgbClr val="F8FAFC"/>
                    </a:solidFill>
                  </a:tcPr>
                </a:tc>
                <a:tc>
                  <a:txBody>
                    <a:bodyPr/>
                    <a:lstStyle/>
                    <a:p>
                      <a:pPr algn="ctr"/>
                      <a:r>
                        <a:rPr sz="1200" b="1" i="0" u="none" dirty="0">
                          <a:solidFill>
                            <a:srgbClr val="0F172A"/>
                          </a:solidFill>
                          <a:latin typeface="Noto Sans JP"/>
                        </a:rPr>
                        <a:t>企画・提案</a:t>
                      </a:r>
                    </a:p>
                  </a:txBody>
                  <a:tcPr marL="63500" marR="63500" marT="25400" marB="25400" anchor="ctr">
                    <a:lnL>
                      <a:noFill/>
                    </a:lnL>
                    <a:lnR>
                      <a:noFill/>
                    </a:lnR>
                    <a:lnT>
                      <a:noFill/>
                    </a:lnT>
                    <a:lnB>
                      <a:noFill/>
                    </a:lnB>
                    <a:solidFill>
                      <a:srgbClr val="F8FAFC"/>
                    </a:solidFill>
                  </a:tcPr>
                </a:tc>
                <a:tc>
                  <a:txBody>
                    <a:bodyPr/>
                    <a:lstStyle/>
                    <a:p>
                      <a:pPr algn="ctr"/>
                      <a:r>
                        <a:rPr sz="1200" b="1" i="0" u="none" dirty="0">
                          <a:solidFill>
                            <a:srgbClr val="0F172A"/>
                          </a:solidFill>
                          <a:latin typeface="Noto Sans JP"/>
                        </a:rPr>
                        <a:t>要件定義</a:t>
                      </a:r>
                    </a:p>
                  </a:txBody>
                  <a:tcPr marL="63500" marR="63500" marT="25400" marB="25400" anchor="ctr">
                    <a:lnL>
                      <a:noFill/>
                    </a:lnL>
                    <a:lnR>
                      <a:noFill/>
                    </a:lnR>
                    <a:lnT>
                      <a:noFill/>
                    </a:lnT>
                    <a:lnB>
                      <a:noFill/>
                    </a:lnB>
                    <a:solidFill>
                      <a:srgbClr val="F8FAFC"/>
                    </a:solidFill>
                  </a:tcPr>
                </a:tc>
                <a:tc>
                  <a:txBody>
                    <a:bodyPr/>
                    <a:lstStyle/>
                    <a:p>
                      <a:pPr algn="ctr"/>
                      <a:r>
                        <a:rPr sz="1200" b="1" i="0" u="none" dirty="0">
                          <a:solidFill>
                            <a:srgbClr val="0F172A"/>
                          </a:solidFill>
                          <a:latin typeface="Noto Sans JP"/>
                        </a:rPr>
                        <a:t>設計</a:t>
                      </a:r>
                    </a:p>
                  </a:txBody>
                  <a:tcPr marL="63500" marR="63500" marT="25400" marB="25400" anchor="ctr">
                    <a:lnL>
                      <a:noFill/>
                    </a:lnL>
                    <a:lnR>
                      <a:noFill/>
                    </a:lnR>
                    <a:lnT>
                      <a:noFill/>
                    </a:lnT>
                    <a:lnB>
                      <a:noFill/>
                    </a:lnB>
                    <a:solidFill>
                      <a:srgbClr val="F8FAFC"/>
                    </a:solidFill>
                  </a:tcPr>
                </a:tc>
                <a:tc>
                  <a:txBody>
                    <a:bodyPr/>
                    <a:lstStyle/>
                    <a:p>
                      <a:pPr algn="ctr"/>
                      <a:r>
                        <a:rPr sz="1200" b="1" i="0" u="none" dirty="0">
                          <a:solidFill>
                            <a:srgbClr val="0F172A"/>
                          </a:solidFill>
                          <a:latin typeface="Noto Sans JP"/>
                        </a:rPr>
                        <a:t>構築・実装</a:t>
                      </a:r>
                    </a:p>
                  </a:txBody>
                  <a:tcPr marL="63500" marR="63500" marT="25400" marB="25400" anchor="ctr">
                    <a:lnL>
                      <a:noFill/>
                    </a:lnL>
                    <a:lnR>
                      <a:noFill/>
                    </a:lnR>
                    <a:lnT>
                      <a:noFill/>
                    </a:lnT>
                    <a:lnB>
                      <a:noFill/>
                    </a:lnB>
                    <a:solidFill>
                      <a:srgbClr val="F8FAFC"/>
                    </a:solidFill>
                  </a:tcPr>
                </a:tc>
                <a:tc>
                  <a:txBody>
                    <a:bodyPr/>
                    <a:lstStyle/>
                    <a:p>
                      <a:pPr algn="ctr"/>
                      <a:r>
                        <a:rPr sz="1200" b="1" i="0" u="none" dirty="0">
                          <a:solidFill>
                            <a:srgbClr val="0F172A"/>
                          </a:solidFill>
                          <a:latin typeface="Noto Sans JP"/>
                        </a:rPr>
                        <a:t>テスト</a:t>
                      </a:r>
                    </a:p>
                  </a:txBody>
                  <a:tcPr marL="63500" marR="63500" marT="25400" marB="25400" anchor="ctr">
                    <a:lnL>
                      <a:noFill/>
                    </a:lnL>
                    <a:lnR>
                      <a:noFill/>
                    </a:lnR>
                    <a:lnT>
                      <a:noFill/>
                    </a:lnT>
                    <a:lnB>
                      <a:noFill/>
                    </a:lnB>
                    <a:solidFill>
                      <a:srgbClr val="F8FAFC"/>
                    </a:solidFill>
                  </a:tcPr>
                </a:tc>
                <a:tc>
                  <a:txBody>
                    <a:bodyPr/>
                    <a:lstStyle/>
                    <a:p>
                      <a:pPr algn="ctr"/>
                      <a:r>
                        <a:rPr sz="1200" b="1" i="0" u="none" dirty="0">
                          <a:solidFill>
                            <a:srgbClr val="0F172A"/>
                          </a:solidFill>
                          <a:latin typeface="Noto Sans JP"/>
                        </a:rPr>
                        <a:t>展開・リリース</a:t>
                      </a:r>
                    </a:p>
                  </a:txBody>
                  <a:tcPr marL="63500" marR="63500" marT="25400" marB="25400" anchor="ctr">
                    <a:lnL>
                      <a:noFill/>
                    </a:lnL>
                    <a:lnR>
                      <a:noFill/>
                    </a:lnR>
                    <a:lnT>
                      <a:noFill/>
                    </a:lnT>
                    <a:lnB>
                      <a:noFill/>
                    </a:lnB>
                    <a:solidFill>
                      <a:srgbClr val="F8FAFC"/>
                    </a:solidFill>
                  </a:tcPr>
                </a:tc>
                <a:tc>
                  <a:txBody>
                    <a:bodyPr/>
                    <a:lstStyle/>
                    <a:p>
                      <a:pPr algn="ctr"/>
                      <a:r>
                        <a:rPr sz="1200" b="1" i="0" u="none" dirty="0">
                          <a:solidFill>
                            <a:srgbClr val="0F172A"/>
                          </a:solidFill>
                          <a:latin typeface="Noto Sans JP"/>
                        </a:rPr>
                        <a:t>運用・監視</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548481">
                <a:tc>
                  <a:txBody>
                    <a:bodyPr/>
                    <a:lstStyle/>
                    <a:p>
                      <a:pPr algn="l"/>
                      <a:r>
                        <a:rPr sz="1200" b="1" i="0" u="none">
                          <a:solidFill>
                            <a:srgbClr val="0F172A"/>
                          </a:solidFill>
                          <a:latin typeface="Noto Sans JP"/>
                        </a:rPr>
                        <a:t>【インフラ】</a:t>
                      </a:r>
                    </a:p>
                  </a:txBody>
                  <a:tcPr marL="63500" marR="63500" marT="25400" marB="25400" anchor="ctr">
                    <a:lnL>
                      <a:noFill/>
                    </a:lnL>
                    <a:lnR>
                      <a:noFill/>
                    </a:lnR>
                    <a:lnT>
                      <a:noFill/>
                    </a:lnT>
                    <a:lnB>
                      <a:noFill/>
                    </a:lnB>
                    <a:noFill/>
                  </a:tcPr>
                </a:tc>
                <a:tc>
                  <a:txBody>
                    <a:bodyPr/>
                    <a:lstStyle/>
                    <a:p>
                      <a:pPr algn="ctr"/>
                      <a:r>
                        <a:rPr lang="ja-JP" altLang="en-US" sz="1125" b="0" i="0" u="none" dirty="0">
                          <a:solidFill>
                            <a:srgbClr val="334155"/>
                          </a:solidFill>
                          <a:latin typeface="Noto Sans JP Medium"/>
                        </a:rPr>
                        <a:t>　　　　　</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r>
                        <a:rPr lang="ja-JP" altLang="en-US" sz="1125" b="0" i="0" u="none" dirty="0">
                          <a:solidFill>
                            <a:srgbClr val="334155"/>
                          </a:solidFill>
                          <a:latin typeface="Noto Sans JP Medium" panose="020B0200000000000000" pitchFamily="50" charset="-128"/>
                          <a:ea typeface="Noto Sans JP Medium" panose="020B0200000000000000" pitchFamily="50" charset="-128"/>
                        </a:rPr>
                        <a:t>提案</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endParaRPr sz="1125" b="0" i="0" u="none" dirty="0">
                        <a:solidFill>
                          <a:srgbClr val="334155"/>
                        </a:solidFill>
                        <a:latin typeface="Noto Sans JP Medium" panose="020B0200000000000000" pitchFamily="50" charset="-128"/>
                        <a:ea typeface="Noto Sans JP Medium" panose="020B0200000000000000" pitchFamily="50" charset="-128"/>
                      </a:endParaRPr>
                    </a:p>
                  </a:txBody>
                  <a:tcPr marL="63500" marR="63500" marT="25400" marB="25400" anchor="ctr">
                    <a:lnL>
                      <a:noFill/>
                    </a:lnL>
                    <a:lnR>
                      <a:noFill/>
                    </a:lnR>
                    <a:lnT>
                      <a:noFill/>
                    </a:lnT>
                    <a:lnB>
                      <a:noFill/>
                    </a:lnB>
                    <a:noFill/>
                  </a:tcPr>
                </a:tc>
                <a:tc>
                  <a:txBody>
                    <a:bodyPr/>
                    <a:lstStyle/>
                    <a:p>
                      <a:pPr algn="ctr"/>
                      <a:r>
                        <a:rPr sz="1125" b="0" i="0" u="none">
                          <a:solidFill>
                            <a:srgbClr val="334155"/>
                          </a:solidFill>
                          <a:latin typeface="Noto Sans JP Medium"/>
                        </a:rPr>
                        <a:t>×</a:t>
                      </a:r>
                    </a:p>
                  </a:txBody>
                  <a:tcPr marL="63500" marR="63500" marT="25400" marB="25400" anchor="ctr">
                    <a:lnL>
                      <a:noFill/>
                    </a:lnL>
                    <a:lnR>
                      <a:noFill/>
                    </a:lnR>
                    <a:lnT>
                      <a:noFill/>
                    </a:lnT>
                    <a:lnB>
                      <a:noFill/>
                    </a:lnB>
                    <a:noFill/>
                  </a:tcPr>
                </a:tc>
                <a:tc>
                  <a:txBody>
                    <a:bodyPr/>
                    <a:lstStyle/>
                    <a:p>
                      <a:pPr algn="ctr"/>
                      <a:endParaRPr sz="1125" b="0" i="0" u="none" dirty="0">
                        <a:solidFill>
                          <a:srgbClr val="334155"/>
                        </a:solidFill>
                        <a:latin typeface="Noto Sans JP Medium"/>
                      </a:endParaRPr>
                    </a:p>
                  </a:txBody>
                  <a:tcPr marL="63500" marR="63500" marT="25400" marB="25400" anchor="ctr">
                    <a:lnL>
                      <a:noFill/>
                    </a:lnL>
                    <a:lnR>
                      <a:noFill/>
                    </a:lnR>
                    <a:lnT>
                      <a:noFill/>
                    </a:lnT>
                    <a:lnB>
                      <a:noFill/>
                    </a:lnB>
                    <a:noFill/>
                  </a:tcPr>
                </a:tc>
                <a:tc>
                  <a:txBody>
                    <a:bodyPr/>
                    <a:lstStyle/>
                    <a:p>
                      <a:pPr algn="ctr"/>
                      <a:r>
                        <a:rPr lang="en-US" altLang="ja-JP" sz="1125" b="0" i="0" u="none" dirty="0">
                          <a:solidFill>
                            <a:srgbClr val="334155"/>
                          </a:solidFill>
                          <a:latin typeface="Noto Sans JP Medium"/>
                        </a:rPr>
                        <a:t>(</a:t>
                      </a:r>
                      <a:r>
                        <a:rPr lang="ja-JP" altLang="en-US" sz="1125" b="0" i="0" u="none" dirty="0">
                          <a:solidFill>
                            <a:srgbClr val="334155"/>
                          </a:solidFill>
                          <a:latin typeface="Noto Sans JP Medium"/>
                        </a:rPr>
                        <a:t> 　　</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r>
                        <a:rPr lang="ja-JP" altLang="en-US" sz="1125" b="0" i="0" u="none" dirty="0">
                          <a:solidFill>
                            <a:srgbClr val="334155"/>
                          </a:solidFill>
                          <a:latin typeface="Noto Sans JP Medium" panose="020B0200000000000000" pitchFamily="50" charset="-128"/>
                          <a:ea typeface="Noto Sans JP Medium" panose="020B0200000000000000" pitchFamily="50" charset="-128"/>
                        </a:rPr>
                        <a:t>構築</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endParaRPr sz="1125" b="0" i="0" u="none" dirty="0">
                        <a:solidFill>
                          <a:srgbClr val="334155"/>
                        </a:solidFill>
                        <a:latin typeface="Noto Sans JP Medium" panose="020B0200000000000000" pitchFamily="50" charset="-128"/>
                        <a:ea typeface="Noto Sans JP Medium" panose="020B0200000000000000" pitchFamily="50" charset="-128"/>
                      </a:endParaRPr>
                    </a:p>
                  </a:txBody>
                  <a:tcPr marL="63500" marR="63500" marT="25400" marB="25400" anchor="ctr">
                    <a:lnL>
                      <a:noFill/>
                    </a:lnL>
                    <a:lnR>
                      <a:noFill/>
                    </a:lnR>
                    <a:lnT>
                      <a:noFill/>
                    </a:lnT>
                    <a:lnB>
                      <a:noFill/>
                    </a:lnB>
                    <a:noFill/>
                  </a:tcPr>
                </a:tc>
                <a:tc>
                  <a:txBody>
                    <a:bodyPr/>
                    <a:lstStyle/>
                    <a:p>
                      <a:pPr algn="ctr"/>
                      <a:endParaRPr sz="1125" b="0" i="0" u="none" dirty="0">
                        <a:solidFill>
                          <a:srgbClr val="334155"/>
                        </a:solidFill>
                        <a:latin typeface="Noto Sans JP Medium"/>
                      </a:endParaRPr>
                    </a:p>
                  </a:txBody>
                  <a:tcPr marL="63500" marR="63500" marT="25400" marB="25400" anchor="ctr">
                    <a:lnL>
                      <a:noFill/>
                    </a:lnL>
                    <a:lnR>
                      <a:noFill/>
                    </a:lnR>
                    <a:lnT>
                      <a:noFill/>
                    </a:lnT>
                    <a:lnB>
                      <a:noFill/>
                    </a:lnB>
                    <a:noFill/>
                  </a:tcPr>
                </a:tc>
                <a:tc>
                  <a:txBody>
                    <a:bodyPr/>
                    <a:lstStyle/>
                    <a:p>
                      <a:pPr algn="ct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r>
                        <a:rPr lang="ja-JP" altLang="en-US" sz="1125" b="0" i="0" u="none" dirty="0">
                          <a:solidFill>
                            <a:srgbClr val="334155"/>
                          </a:solidFill>
                          <a:latin typeface="Noto Sans JP Medium" panose="020B0200000000000000" pitchFamily="50" charset="-128"/>
                          <a:ea typeface="Noto Sans JP Medium" panose="020B0200000000000000" pitchFamily="50" charset="-128"/>
                        </a:rPr>
                        <a:t>展開</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endParaRPr sz="1125" b="0" i="0" u="none" dirty="0">
                        <a:solidFill>
                          <a:srgbClr val="334155"/>
                        </a:solidFill>
                        <a:latin typeface="Noto Sans JP Medium" panose="020B0200000000000000" pitchFamily="50" charset="-128"/>
                        <a:ea typeface="Noto Sans JP Medium" panose="020B0200000000000000" pitchFamily="50" charset="-128"/>
                      </a:endParaRPr>
                    </a:p>
                  </a:txBody>
                  <a:tcPr marL="63500" marR="63500" marT="25400" marB="25400" anchor="ctr">
                    <a:lnL>
                      <a:noFill/>
                    </a:lnL>
                    <a:lnR>
                      <a:noFill/>
                    </a:lnR>
                    <a:lnT>
                      <a:noFill/>
                    </a:lnT>
                    <a:lnB>
                      <a:noFill/>
                    </a:lnB>
                    <a:noFill/>
                  </a:tcPr>
                </a:tc>
                <a:tc>
                  <a:txBody>
                    <a:bodyPr/>
                    <a:lstStyle/>
                    <a:p>
                      <a:pPr algn="ctr"/>
                      <a:r>
                        <a:rPr lang="ja-JP" altLang="en-US" sz="1125" b="0" i="0" u="none" dirty="0">
                          <a:solidFill>
                            <a:srgbClr val="334155"/>
                          </a:solidFill>
                          <a:latin typeface="Noto Sans JP Medium"/>
                        </a:rPr>
                        <a:t>　　</a:t>
                      </a:r>
                      <a:r>
                        <a:rPr sz="1125" b="0" i="0" u="none" dirty="0">
                          <a:solidFill>
                            <a:srgbClr val="334155"/>
                          </a:solidFill>
                          <a:latin typeface="Noto Sans JP Medium"/>
                        </a:rPr>
                        <a:t> (</a:t>
                      </a:r>
                      <a:r>
                        <a:rPr lang="en-US" sz="1125" b="0" i="0" u="none" dirty="0">
                          <a:solidFill>
                            <a:srgbClr val="334155"/>
                          </a:solidFill>
                          <a:latin typeface="Noto Sans JP Medium"/>
                        </a:rPr>
                        <a:t>  (</a:t>
                      </a:r>
                      <a:r>
                        <a:rPr sz="1125" b="0" i="0" u="none" dirty="0">
                          <a:solidFill>
                            <a:srgbClr val="334155"/>
                          </a:solidFill>
                          <a:latin typeface="Noto Sans JP Medium"/>
                        </a:rPr>
                        <a:t>運用/監視)</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548481">
                <a:tc>
                  <a:txBody>
                    <a:bodyPr/>
                    <a:lstStyle/>
                    <a:p>
                      <a:pPr algn="l"/>
                      <a:r>
                        <a:rPr sz="1200" b="1" i="0" u="none" dirty="0">
                          <a:solidFill>
                            <a:srgbClr val="0F172A"/>
                          </a:solidFill>
                          <a:latin typeface="Noto Sans JP"/>
                        </a:rPr>
                        <a:t>【開発】</a:t>
                      </a:r>
                    </a:p>
                  </a:txBody>
                  <a:tcPr marL="63500" marR="63500" marT="25400" marB="25400" anchor="ctr">
                    <a:lnL>
                      <a:noFill/>
                    </a:lnL>
                    <a:lnR>
                      <a:noFill/>
                    </a:lnR>
                    <a:lnT>
                      <a:noFill/>
                    </a:lnT>
                    <a:lnB>
                      <a:noFill/>
                    </a:lnB>
                    <a:noFill/>
                  </a:tcPr>
                </a:tc>
                <a:tc>
                  <a:txBody>
                    <a:bodyPr/>
                    <a:lstStyle/>
                    <a:p>
                      <a:pPr algn="ctr"/>
                      <a:r>
                        <a:rPr lang="ja-JP" altLang="en-US" sz="1125" b="0" i="0" u="none" dirty="0">
                          <a:solidFill>
                            <a:srgbClr val="334155"/>
                          </a:solidFill>
                          <a:latin typeface="Noto Sans JP Medium"/>
                        </a:rPr>
                        <a:t>　　　　　</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r>
                        <a:rPr lang="ja-JP" altLang="en-US" sz="1125" b="0" i="0" u="none" dirty="0">
                          <a:solidFill>
                            <a:srgbClr val="334155"/>
                          </a:solidFill>
                          <a:latin typeface="Noto Sans JP Medium" panose="020B0200000000000000" pitchFamily="50" charset="-128"/>
                          <a:ea typeface="Noto Sans JP Medium" panose="020B0200000000000000" pitchFamily="50" charset="-128"/>
                        </a:rPr>
                        <a:t>企画</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endParaRPr sz="1125" b="0" i="0" u="none" dirty="0">
                        <a:solidFill>
                          <a:srgbClr val="334155"/>
                        </a:solidFill>
                        <a:latin typeface="Noto Sans JP Medium" panose="020B0200000000000000" pitchFamily="50" charset="-128"/>
                        <a:ea typeface="Noto Sans JP Medium" panose="020B0200000000000000" pitchFamily="50" charset="-128"/>
                      </a:endParaRPr>
                    </a:p>
                  </a:txBody>
                  <a:tcPr marL="63500" marR="63500" marT="25400" marB="25400" anchor="ctr">
                    <a:lnL>
                      <a:noFill/>
                    </a:lnL>
                    <a:lnR>
                      <a:noFill/>
                    </a:lnR>
                    <a:lnT>
                      <a:noFill/>
                    </a:lnT>
                    <a:lnB>
                      <a:noFill/>
                    </a:lnB>
                    <a:noFill/>
                  </a:tcPr>
                </a:tc>
                <a:tc>
                  <a:txBody>
                    <a:bodyPr/>
                    <a:lstStyle/>
                    <a:p>
                      <a:pPr algn="ctr"/>
                      <a:r>
                        <a:rPr sz="1125" b="0" i="0" u="none" dirty="0">
                          <a:solidFill>
                            <a:srgbClr val="334155"/>
                          </a:solidFill>
                          <a:latin typeface="Noto Sans JP Medium"/>
                        </a:rPr>
                        <a:t>×</a:t>
                      </a:r>
                    </a:p>
                  </a:txBody>
                  <a:tcPr marL="63500" marR="63500" marT="25400" marB="25400" anchor="ctr">
                    <a:lnL>
                      <a:noFill/>
                    </a:lnL>
                    <a:lnR>
                      <a:noFill/>
                    </a:lnR>
                    <a:lnT>
                      <a:noFill/>
                    </a:lnT>
                    <a:lnB>
                      <a:noFill/>
                    </a:lnB>
                    <a:noFill/>
                  </a:tcPr>
                </a:tc>
                <a:tc>
                  <a:txBody>
                    <a:bodyPr/>
                    <a:lstStyle/>
                    <a:p>
                      <a:pPr algn="ctr"/>
                      <a:r>
                        <a:rPr sz="1125" b="0" i="0" u="none" dirty="0">
                          <a:solidFill>
                            <a:srgbClr val="334155"/>
                          </a:solidFill>
                          <a:latin typeface="Noto Sans JP Medium"/>
                        </a:rPr>
                        <a:t>△</a:t>
                      </a:r>
                    </a:p>
                  </a:txBody>
                  <a:tcPr marL="63500" marR="63500" marT="25400" marB="25400" anchor="ctr">
                    <a:lnL>
                      <a:noFill/>
                    </a:lnL>
                    <a:lnR>
                      <a:noFill/>
                    </a:lnR>
                    <a:lnT>
                      <a:noFill/>
                    </a:lnT>
                    <a:lnB>
                      <a:noFill/>
                    </a:lnB>
                    <a:noFill/>
                  </a:tcPr>
                </a:tc>
                <a:tc>
                  <a:txBody>
                    <a:bodyPr/>
                    <a:lstStyle/>
                    <a:p>
                      <a:pPr algn="ctr"/>
                      <a:r>
                        <a:rPr sz="1125" b="0" i="0" u="none" dirty="0">
                          <a:solidFill>
                            <a:srgbClr val="334155"/>
                          </a:solidFill>
                          <a:latin typeface="Noto Sans JP Medium"/>
                        </a:rPr>
                        <a:t>△ (</a:t>
                      </a:r>
                      <a:r>
                        <a:rPr lang="en-US" sz="1125" b="0" i="0" u="none" dirty="0">
                          <a:solidFill>
                            <a:srgbClr val="334155"/>
                          </a:solidFill>
                          <a:latin typeface="Noto Sans JP Medium"/>
                        </a:rPr>
                        <a:t> (</a:t>
                      </a:r>
                      <a:r>
                        <a:rPr sz="1125" b="0" i="0" u="none" dirty="0">
                          <a:solidFill>
                            <a:srgbClr val="334155"/>
                          </a:solidFill>
                          <a:latin typeface="Noto Sans JP Medium"/>
                        </a:rPr>
                        <a:t>実装)</a:t>
                      </a:r>
                    </a:p>
                  </a:txBody>
                  <a:tcPr marL="63500" marR="63500" marT="25400" marB="25400" anchor="ctr">
                    <a:lnL>
                      <a:noFill/>
                    </a:lnL>
                    <a:lnR>
                      <a:noFill/>
                    </a:lnR>
                    <a:lnT>
                      <a:noFill/>
                    </a:lnT>
                    <a:lnB>
                      <a:noFill/>
                    </a:lnB>
                    <a:noFill/>
                  </a:tcPr>
                </a:tc>
                <a:tc>
                  <a:txBody>
                    <a:bodyPr/>
                    <a:lstStyle/>
                    <a:p>
                      <a:pPr algn="ctr"/>
                      <a:r>
                        <a:rPr sz="1125" b="0" i="0" u="none" dirty="0">
                          <a:solidFill>
                            <a:srgbClr val="334155"/>
                          </a:solidFill>
                          <a:latin typeface="Noto Sans JP Medium"/>
                        </a:rPr>
                        <a:t>△</a:t>
                      </a:r>
                    </a:p>
                  </a:txBody>
                  <a:tcPr marL="63500" marR="63500" marT="25400" marB="25400" anchor="ctr">
                    <a:lnL>
                      <a:noFill/>
                    </a:lnL>
                    <a:lnR>
                      <a:noFill/>
                    </a:lnR>
                    <a:lnT>
                      <a:noFill/>
                    </a:lnT>
                    <a:lnB>
                      <a:noFill/>
                    </a:lnB>
                    <a:noFill/>
                  </a:tcPr>
                </a:tc>
                <a:tc>
                  <a:txBody>
                    <a:bodyPr/>
                    <a:lstStyle/>
                    <a:p>
                      <a:pPr algn="ctr"/>
                      <a:r>
                        <a:rPr lang="en-US" sz="1125" b="0" i="0" u="none" dirty="0">
                          <a:solidFill>
                            <a:srgbClr val="334155"/>
                          </a:solidFill>
                          <a:latin typeface="Noto Sans JP Medium"/>
                        </a:rPr>
                        <a:t> </a:t>
                      </a:r>
                      <a:r>
                        <a:rPr lang="ja-JP" altLang="en-US" sz="1125" b="0" i="0" u="none" dirty="0">
                          <a:solidFill>
                            <a:srgbClr val="334155"/>
                          </a:solidFill>
                          <a:latin typeface="Noto Sans JP Medium"/>
                        </a:rPr>
                        <a:t>　　　</a:t>
                      </a:r>
                      <a:r>
                        <a:rPr lang="en-US" sz="1125" b="0" i="0" u="none" dirty="0">
                          <a:solidFill>
                            <a:srgbClr val="334155"/>
                          </a:solidFill>
                          <a:latin typeface="Noto Sans JP Medium"/>
                        </a:rPr>
                        <a:t>(</a:t>
                      </a:r>
                      <a:r>
                        <a:rPr sz="1125" b="0" i="0" u="none" dirty="0">
                          <a:solidFill>
                            <a:srgbClr val="334155"/>
                          </a:solidFill>
                          <a:latin typeface="Noto Sans JP Medium"/>
                        </a:rPr>
                        <a:t>リリース)</a:t>
                      </a:r>
                    </a:p>
                  </a:txBody>
                  <a:tcPr marL="63500" marR="63500" marT="25400" marB="25400" anchor="ctr">
                    <a:lnL>
                      <a:noFill/>
                    </a:lnL>
                    <a:lnR>
                      <a:noFill/>
                    </a:lnR>
                    <a:lnT>
                      <a:noFill/>
                    </a:lnT>
                    <a:lnB>
                      <a:noFill/>
                    </a:lnB>
                    <a:noFill/>
                  </a:tcPr>
                </a:tc>
                <a:tc>
                  <a:txBody>
                    <a:bodyPr/>
                    <a:lstStyle/>
                    <a:p>
                      <a:pPr algn="ct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r>
                        <a:rPr lang="ja-JP" altLang="en-US" sz="1125" b="0" i="0" u="none" dirty="0">
                          <a:solidFill>
                            <a:srgbClr val="334155"/>
                          </a:solidFill>
                          <a:latin typeface="Noto Sans JP Medium" panose="020B0200000000000000" pitchFamily="50" charset="-128"/>
                          <a:ea typeface="Noto Sans JP Medium" panose="020B0200000000000000" pitchFamily="50" charset="-128"/>
                        </a:rPr>
                        <a:t>運用</a:t>
                      </a:r>
                      <a:r>
                        <a:rPr lang="en-US" altLang="ja-JP" sz="1125" b="0" i="0" u="none" dirty="0">
                          <a:solidFill>
                            <a:srgbClr val="334155"/>
                          </a:solidFill>
                          <a:latin typeface="Noto Sans JP Medium" panose="020B0200000000000000" pitchFamily="50" charset="-128"/>
                          <a:ea typeface="Noto Sans JP Medium" panose="020B0200000000000000" pitchFamily="50" charset="-128"/>
                        </a:rPr>
                        <a:t>)</a:t>
                      </a:r>
                      <a:endParaRPr sz="1125" b="0" i="0" u="none" dirty="0">
                        <a:solidFill>
                          <a:srgbClr val="334155"/>
                        </a:solidFill>
                        <a:latin typeface="Noto Sans JP Medium" panose="020B0200000000000000" pitchFamily="50" charset="-128"/>
                        <a:ea typeface="Noto Sans JP Medium" panose="020B0200000000000000" pitchFamily="50" charset="-128"/>
                      </a:endParaRP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bl>
          </a:graphicData>
        </a:graphic>
      </p:graphicFrame>
      <p:sp>
        <p:nvSpPr>
          <p:cNvPr id="5" name="Rectangle 4"/>
          <p:cNvSpPr/>
          <p:nvPr/>
        </p:nvSpPr>
        <p:spPr>
          <a:xfrm>
            <a:off x="533400" y="3134320"/>
            <a:ext cx="1652289"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185689" y="3134320"/>
            <a:ext cx="1403151"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588841" y="3134320"/>
            <a:ext cx="12064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795242" y="3134320"/>
            <a:ext cx="813048"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08290" y="3134320"/>
            <a:ext cx="1403151"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011441" y="3134320"/>
            <a:ext cx="10096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21091" y="3134320"/>
            <a:ext cx="1796653"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817744" y="3134320"/>
            <a:ext cx="1840855"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3875" y="4458295"/>
            <a:ext cx="11144250" cy="206403"/>
          </a:xfrm>
          <a:prstGeom prst="rect">
            <a:avLst/>
          </a:prstGeom>
          <a:noFill/>
        </p:spPr>
        <p:txBody>
          <a:bodyPr wrap="square" lIns="0" tIns="0" rIns="0" bIns="0" anchor="t">
            <a:spAutoFit/>
          </a:bodyPr>
          <a:lstStyle/>
          <a:p>
            <a:pPr algn="ctr">
              <a:lnSpc>
                <a:spcPts val="1794"/>
              </a:lnSpc>
            </a:pPr>
            <a:r>
              <a:rPr sz="1087" b="0" i="0" u="none" dirty="0">
                <a:solidFill>
                  <a:srgbClr val="475569"/>
                </a:solidFill>
                <a:latin typeface="Noto Sans JP Medium"/>
              </a:rPr>
              <a:t>( 〇：あり    △：一部あり    ×：無し )</a:t>
            </a:r>
          </a:p>
        </p:txBody>
      </p:sp>
      <p:sp>
        <p:nvSpPr>
          <p:cNvPr id="14" name="TextBox 13"/>
          <p:cNvSpPr txBox="1"/>
          <p:nvPr/>
        </p:nvSpPr>
        <p:spPr>
          <a:xfrm>
            <a:off x="523875" y="4724251"/>
            <a:ext cx="11144250" cy="195631"/>
          </a:xfrm>
          <a:prstGeom prst="rect">
            <a:avLst/>
          </a:prstGeom>
          <a:noFill/>
        </p:spPr>
        <p:txBody>
          <a:bodyPr wrap="square" lIns="0" tIns="0" rIns="0" bIns="0" anchor="t">
            <a:spAutoFit/>
          </a:bodyPr>
          <a:lstStyle/>
          <a:p>
            <a:pPr algn="ctr">
              <a:lnSpc>
                <a:spcPts val="1732"/>
              </a:lnSpc>
            </a:pPr>
            <a:r>
              <a:rPr sz="1050" b="1" i="0" u="none" dirty="0">
                <a:solidFill>
                  <a:srgbClr val="64748B"/>
                </a:solidFill>
                <a:latin typeface="Noto Sans JP Medium" panose="020B0200000000000000" pitchFamily="50" charset="-128"/>
                <a:ea typeface="Noto Sans JP Medium" panose="020B0200000000000000" pitchFamily="50" charset="-128"/>
              </a:rPr>
              <a:t>※上表は</a:t>
            </a:r>
            <a:r>
              <a:rPr lang="ja-JP" altLang="en-US" sz="1050" b="1" i="0" u="none" dirty="0">
                <a:solidFill>
                  <a:srgbClr val="64748B"/>
                </a:solidFill>
                <a:latin typeface="Noto Sans JP Medium" panose="020B0200000000000000" pitchFamily="50" charset="-128"/>
                <a:ea typeface="Noto Sans JP Medium" panose="020B0200000000000000" pitchFamily="50" charset="-128"/>
              </a:rPr>
              <a:t>過去</a:t>
            </a:r>
            <a:r>
              <a:rPr sz="1050" b="1" i="0" u="none" dirty="0">
                <a:solidFill>
                  <a:srgbClr val="64748B"/>
                </a:solidFill>
                <a:latin typeface="Noto Sans JP Medium" panose="020B0200000000000000" pitchFamily="50" charset="-128"/>
                <a:ea typeface="Noto Sans JP Medium" panose="020B0200000000000000" pitchFamily="50" charset="-128"/>
              </a:rPr>
              <a:t>のプロジェクト現場における活用実態です。</a:t>
            </a:r>
          </a:p>
        </p:txBody>
      </p:sp>
      <p:sp>
        <p:nvSpPr>
          <p:cNvPr id="15" name="Rectangle 14"/>
          <p:cNvSpPr/>
          <p:nvPr/>
        </p:nvSpPr>
        <p:spPr>
          <a:xfrm>
            <a:off x="533400" y="3705820"/>
            <a:ext cx="1652289"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185689" y="3705820"/>
            <a:ext cx="140315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588841" y="3705820"/>
            <a:ext cx="120640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795242" y="3705820"/>
            <a:ext cx="813048"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08290" y="3705820"/>
            <a:ext cx="140315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011441" y="3705820"/>
            <a:ext cx="100965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21091" y="3705820"/>
            <a:ext cx="1796653"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817744" y="3705820"/>
            <a:ext cx="184085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3400" y="4267795"/>
            <a:ext cx="1652289"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185689" y="4267795"/>
            <a:ext cx="140315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588841" y="4267795"/>
            <a:ext cx="120640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795242" y="4267795"/>
            <a:ext cx="813048"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08290" y="4267795"/>
            <a:ext cx="1403151"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011441" y="4267795"/>
            <a:ext cx="1009650"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21091" y="4267795"/>
            <a:ext cx="1796653"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817744" y="4267795"/>
            <a:ext cx="184085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mage.png"/>
          <p:cNvPicPr>
            <a:picLocks noChangeAspect="1"/>
          </p:cNvPicPr>
          <p:nvPr/>
        </p:nvPicPr>
        <p:blipFill>
          <a:blip r:embed="rId2"/>
          <a:stretch>
            <a:fillRect/>
          </a:stretch>
        </p:blipFill>
        <p:spPr>
          <a:xfrm>
            <a:off x="2535882" y="3286720"/>
            <a:ext cx="285750" cy="285750"/>
          </a:xfrm>
          <a:prstGeom prst="rect">
            <a:avLst/>
          </a:prstGeom>
        </p:spPr>
      </p:pic>
      <p:pic>
        <p:nvPicPr>
          <p:cNvPr id="32" name="Picture 31" descr="image.png"/>
          <p:cNvPicPr>
            <a:picLocks noChangeAspect="1"/>
          </p:cNvPicPr>
          <p:nvPr/>
        </p:nvPicPr>
        <p:blipFill>
          <a:blip r:embed="rId3"/>
          <a:stretch>
            <a:fillRect/>
          </a:stretch>
        </p:blipFill>
        <p:spPr>
          <a:xfrm>
            <a:off x="4049166" y="3286720"/>
            <a:ext cx="285750" cy="285750"/>
          </a:xfrm>
          <a:prstGeom prst="rect">
            <a:avLst/>
          </a:prstGeom>
        </p:spPr>
      </p:pic>
      <p:pic>
        <p:nvPicPr>
          <p:cNvPr id="37" name="Picture 36" descr="image.png"/>
          <p:cNvPicPr>
            <a:picLocks noChangeAspect="1"/>
          </p:cNvPicPr>
          <p:nvPr/>
        </p:nvPicPr>
        <p:blipFill>
          <a:blip r:embed="rId4"/>
          <a:stretch>
            <a:fillRect/>
          </a:stretch>
        </p:blipFill>
        <p:spPr>
          <a:xfrm>
            <a:off x="10222259" y="3286720"/>
            <a:ext cx="285750" cy="285750"/>
          </a:xfrm>
          <a:prstGeom prst="rect">
            <a:avLst/>
          </a:prstGeom>
        </p:spPr>
      </p:pic>
      <p:pic>
        <p:nvPicPr>
          <p:cNvPr id="38" name="Picture 37" descr="image.png"/>
          <p:cNvPicPr>
            <a:picLocks noChangeAspect="1"/>
          </p:cNvPicPr>
          <p:nvPr/>
        </p:nvPicPr>
        <p:blipFill>
          <a:blip r:embed="rId2"/>
          <a:stretch>
            <a:fillRect/>
          </a:stretch>
        </p:blipFill>
        <p:spPr>
          <a:xfrm>
            <a:off x="2535882" y="3848695"/>
            <a:ext cx="285750" cy="285750"/>
          </a:xfrm>
          <a:prstGeom prst="rect">
            <a:avLst/>
          </a:prstGeom>
        </p:spPr>
      </p:pic>
      <p:pic>
        <p:nvPicPr>
          <p:cNvPr id="39" name="Picture 38" descr="image.png"/>
          <p:cNvPicPr>
            <a:picLocks noChangeAspect="1"/>
          </p:cNvPicPr>
          <p:nvPr/>
        </p:nvPicPr>
        <p:blipFill>
          <a:blip r:embed="rId3"/>
          <a:stretch>
            <a:fillRect/>
          </a:stretch>
        </p:blipFill>
        <p:spPr>
          <a:xfrm>
            <a:off x="4049166" y="3848695"/>
            <a:ext cx="285750" cy="285750"/>
          </a:xfrm>
          <a:prstGeom prst="rect">
            <a:avLst/>
          </a:prstGeom>
        </p:spPr>
      </p:pic>
      <p:pic>
        <p:nvPicPr>
          <p:cNvPr id="40" name="Picture 39" descr="image.png"/>
          <p:cNvPicPr>
            <a:picLocks noChangeAspect="1"/>
          </p:cNvPicPr>
          <p:nvPr/>
        </p:nvPicPr>
        <p:blipFill>
          <a:blip r:embed="rId5"/>
          <a:stretch>
            <a:fillRect/>
          </a:stretch>
        </p:blipFill>
        <p:spPr>
          <a:xfrm>
            <a:off x="5058816" y="3848695"/>
            <a:ext cx="285750" cy="285750"/>
          </a:xfrm>
          <a:prstGeom prst="rect">
            <a:avLst/>
          </a:prstGeom>
        </p:spPr>
      </p:pic>
      <p:pic>
        <p:nvPicPr>
          <p:cNvPr id="41" name="Picture 40" descr="image.png"/>
          <p:cNvPicPr>
            <a:picLocks noChangeAspect="1"/>
          </p:cNvPicPr>
          <p:nvPr/>
        </p:nvPicPr>
        <p:blipFill>
          <a:blip r:embed="rId4"/>
          <a:stretch>
            <a:fillRect/>
          </a:stretch>
        </p:blipFill>
        <p:spPr>
          <a:xfrm>
            <a:off x="5956548" y="3848695"/>
            <a:ext cx="285750" cy="285750"/>
          </a:xfrm>
          <a:prstGeom prst="rect">
            <a:avLst/>
          </a:prstGeom>
        </p:spPr>
      </p:pic>
      <p:pic>
        <p:nvPicPr>
          <p:cNvPr id="42" name="Picture 41" descr="image.png"/>
          <p:cNvPicPr>
            <a:picLocks noChangeAspect="1"/>
          </p:cNvPicPr>
          <p:nvPr/>
        </p:nvPicPr>
        <p:blipFill>
          <a:blip r:embed="rId6"/>
          <a:stretch>
            <a:fillRect/>
          </a:stretch>
        </p:blipFill>
        <p:spPr>
          <a:xfrm>
            <a:off x="7373391" y="3848695"/>
            <a:ext cx="285750" cy="285750"/>
          </a:xfrm>
          <a:prstGeom prst="rect">
            <a:avLst/>
          </a:prstGeom>
        </p:spPr>
      </p:pic>
      <p:pic>
        <p:nvPicPr>
          <p:cNvPr id="44" name="Picture 43" descr="image.png"/>
          <p:cNvPicPr>
            <a:picLocks noChangeAspect="1"/>
          </p:cNvPicPr>
          <p:nvPr/>
        </p:nvPicPr>
        <p:blipFill>
          <a:blip r:embed="rId6"/>
          <a:stretch>
            <a:fillRect/>
          </a:stretch>
        </p:blipFill>
        <p:spPr>
          <a:xfrm>
            <a:off x="10222259" y="3848695"/>
            <a:ext cx="285750" cy="285750"/>
          </a:xfrm>
          <a:prstGeom prst="rect">
            <a:avLst/>
          </a:prstGeom>
        </p:spPr>
      </p:pic>
      <p:sp>
        <p:nvSpPr>
          <p:cNvPr id="45" name="TextBox 44"/>
          <p:cNvSpPr txBox="1"/>
          <p:nvPr/>
        </p:nvSpPr>
        <p:spPr>
          <a:xfrm>
            <a:off x="523876" y="447467"/>
            <a:ext cx="11144250" cy="325538"/>
          </a:xfrm>
          <a:prstGeom prst="rect">
            <a:avLst/>
          </a:prstGeom>
          <a:noFill/>
        </p:spPr>
        <p:txBody>
          <a:bodyPr wrap="square" lIns="0" tIns="0" rIns="0" bIns="0" anchor="ctr">
            <a:spAutoFit/>
          </a:bodyPr>
          <a:lstStyle/>
          <a:p>
            <a:pPr algn="l">
              <a:lnSpc>
                <a:spcPts val="2729"/>
              </a:lnSpc>
            </a:pPr>
            <a:r>
              <a:rPr sz="2100" b="1" i="0" u="none" dirty="0">
                <a:solidFill>
                  <a:srgbClr val="0F172A"/>
                </a:solidFill>
                <a:latin typeface="Noto Sans JP ExtraBold"/>
              </a:rPr>
              <a:t>【現場】開発・インフラ工程ごとのAI活用状況</a:t>
            </a:r>
          </a:p>
        </p:txBody>
      </p:sp>
      <p:sp>
        <p:nvSpPr>
          <p:cNvPr id="46" name="Rectangle 45"/>
          <p:cNvSpPr/>
          <p:nvPr/>
        </p:nvSpPr>
        <p:spPr>
          <a:xfrm>
            <a:off x="523875" y="889545"/>
            <a:ext cx="111442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31" descr="image.png">
            <a:extLst>
              <a:ext uri="{FF2B5EF4-FFF2-40B4-BE49-F238E27FC236}">
                <a16:creationId xmlns:a16="http://schemas.microsoft.com/office/drawing/2014/main" id="{73CDA2FC-E6BF-4C74-9412-5A80E5194B2A}"/>
              </a:ext>
            </a:extLst>
          </p:cNvPr>
          <p:cNvPicPr>
            <a:picLocks noChangeAspect="1"/>
          </p:cNvPicPr>
          <p:nvPr/>
        </p:nvPicPr>
        <p:blipFill>
          <a:blip r:embed="rId3"/>
          <a:stretch>
            <a:fillRect/>
          </a:stretch>
        </p:blipFill>
        <p:spPr>
          <a:xfrm>
            <a:off x="5049589" y="3281957"/>
            <a:ext cx="285750" cy="285750"/>
          </a:xfrm>
          <a:prstGeom prst="rect">
            <a:avLst/>
          </a:prstGeom>
        </p:spPr>
      </p:pic>
      <p:pic>
        <p:nvPicPr>
          <p:cNvPr id="48" name="Picture 31" descr="image.png">
            <a:extLst>
              <a:ext uri="{FF2B5EF4-FFF2-40B4-BE49-F238E27FC236}">
                <a16:creationId xmlns:a16="http://schemas.microsoft.com/office/drawing/2014/main" id="{AABFF5DD-7A83-4C49-8A7F-308B3B85F3B8}"/>
              </a:ext>
            </a:extLst>
          </p:cNvPr>
          <p:cNvPicPr>
            <a:picLocks noChangeAspect="1"/>
          </p:cNvPicPr>
          <p:nvPr/>
        </p:nvPicPr>
        <p:blipFill>
          <a:blip r:embed="rId3"/>
          <a:stretch>
            <a:fillRect/>
          </a:stretch>
        </p:blipFill>
        <p:spPr>
          <a:xfrm>
            <a:off x="7373391" y="3291482"/>
            <a:ext cx="285750" cy="285750"/>
          </a:xfrm>
          <a:prstGeom prst="rect">
            <a:avLst/>
          </a:prstGeom>
        </p:spPr>
      </p:pic>
      <p:pic>
        <p:nvPicPr>
          <p:cNvPr id="49" name="Picture 31" descr="image.png">
            <a:extLst>
              <a:ext uri="{FF2B5EF4-FFF2-40B4-BE49-F238E27FC236}">
                <a16:creationId xmlns:a16="http://schemas.microsoft.com/office/drawing/2014/main" id="{F2C9B8A5-BF7F-41AC-BC96-4DF194726864}"/>
              </a:ext>
            </a:extLst>
          </p:cNvPr>
          <p:cNvPicPr>
            <a:picLocks noChangeAspect="1"/>
          </p:cNvPicPr>
          <p:nvPr/>
        </p:nvPicPr>
        <p:blipFill>
          <a:blip r:embed="rId3"/>
          <a:stretch>
            <a:fillRect/>
          </a:stretch>
        </p:blipFill>
        <p:spPr>
          <a:xfrm>
            <a:off x="8423225" y="3291482"/>
            <a:ext cx="285750" cy="285750"/>
          </a:xfrm>
          <a:prstGeom prst="rect">
            <a:avLst/>
          </a:prstGeom>
        </p:spPr>
      </p:pic>
      <p:pic>
        <p:nvPicPr>
          <p:cNvPr id="50" name="Picture 31" descr="image.png">
            <a:extLst>
              <a:ext uri="{FF2B5EF4-FFF2-40B4-BE49-F238E27FC236}">
                <a16:creationId xmlns:a16="http://schemas.microsoft.com/office/drawing/2014/main" id="{10101CB0-CC7B-449B-B3E9-DEF8DB4CE12F}"/>
              </a:ext>
            </a:extLst>
          </p:cNvPr>
          <p:cNvPicPr>
            <a:picLocks noChangeAspect="1"/>
          </p:cNvPicPr>
          <p:nvPr/>
        </p:nvPicPr>
        <p:blipFill>
          <a:blip r:embed="rId3"/>
          <a:stretch>
            <a:fillRect/>
          </a:stretch>
        </p:blipFill>
        <p:spPr>
          <a:xfrm>
            <a:off x="8423225" y="3843932"/>
            <a:ext cx="285750" cy="285750"/>
          </a:xfrm>
          <a:prstGeom prst="rect">
            <a:avLst/>
          </a:prstGeom>
        </p:spPr>
      </p:pic>
      <p:pic>
        <p:nvPicPr>
          <p:cNvPr id="51" name="Picture 31" descr="image.png">
            <a:extLst>
              <a:ext uri="{FF2B5EF4-FFF2-40B4-BE49-F238E27FC236}">
                <a16:creationId xmlns:a16="http://schemas.microsoft.com/office/drawing/2014/main" id="{30182CEE-9FE3-44E1-890B-406ACB6C64E6}"/>
              </a:ext>
            </a:extLst>
          </p:cNvPr>
          <p:cNvPicPr>
            <a:picLocks noChangeAspect="1"/>
          </p:cNvPicPr>
          <p:nvPr/>
        </p:nvPicPr>
        <p:blipFill>
          <a:blip r:embed="rId3"/>
          <a:stretch>
            <a:fillRect/>
          </a:stretch>
        </p:blipFill>
        <p:spPr>
          <a:xfrm>
            <a:off x="5943598" y="3310970"/>
            <a:ext cx="285750" cy="285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23875" y="1903271"/>
            <a:ext cx="11144250" cy="1068529"/>
          </a:xfrm>
          <a:prstGeom prst="rect">
            <a:avLst/>
          </a:prstGeom>
        </p:spPr>
      </p:pic>
      <p:pic>
        <p:nvPicPr>
          <p:cNvPr id="3" name="Picture 2" descr="image.png"/>
          <p:cNvPicPr>
            <a:picLocks noChangeAspect="1"/>
          </p:cNvPicPr>
          <p:nvPr/>
        </p:nvPicPr>
        <p:blipFill>
          <a:blip r:embed="rId3"/>
          <a:stretch>
            <a:fillRect/>
          </a:stretch>
        </p:blipFill>
        <p:spPr>
          <a:xfrm>
            <a:off x="523875" y="3124200"/>
            <a:ext cx="5457825" cy="3098800"/>
          </a:xfrm>
          <a:prstGeom prst="rect">
            <a:avLst/>
          </a:prstGeom>
        </p:spPr>
      </p:pic>
      <p:pic>
        <p:nvPicPr>
          <p:cNvPr id="4" name="Picture 3" descr="image.png"/>
          <p:cNvPicPr>
            <a:picLocks noChangeAspect="1"/>
          </p:cNvPicPr>
          <p:nvPr/>
        </p:nvPicPr>
        <p:blipFill>
          <a:blip r:embed="rId4"/>
          <a:stretch>
            <a:fillRect/>
          </a:stretch>
        </p:blipFill>
        <p:spPr>
          <a:xfrm>
            <a:off x="6210300" y="3124200"/>
            <a:ext cx="5457825" cy="3098800"/>
          </a:xfrm>
          <a:prstGeom prst="rect">
            <a:avLst/>
          </a:prstGeom>
        </p:spPr>
      </p:pic>
      <p:sp>
        <p:nvSpPr>
          <p:cNvPr id="6" name="TextBox 5"/>
          <p:cNvSpPr txBox="1"/>
          <p:nvPr/>
        </p:nvSpPr>
        <p:spPr>
          <a:xfrm>
            <a:off x="742950" y="2061942"/>
            <a:ext cx="10706100" cy="246221"/>
          </a:xfrm>
          <a:prstGeom prst="rect">
            <a:avLst/>
          </a:prstGeom>
          <a:noFill/>
        </p:spPr>
        <p:txBody>
          <a:bodyPr wrap="square" lIns="0" tIns="0" rIns="0" bIns="0" anchor="t">
            <a:spAutoFit/>
          </a:bodyPr>
          <a:lstStyle/>
          <a:p>
            <a:pPr algn="l"/>
            <a:r>
              <a:rPr sz="1600" b="1" i="0" u="none" dirty="0">
                <a:solidFill>
                  <a:srgbClr val="0F172A"/>
                </a:solidFill>
                <a:latin typeface="Noto Sans JP"/>
              </a:rPr>
              <a:t>今後の向上スキルの方向性</a:t>
            </a:r>
          </a:p>
        </p:txBody>
      </p:sp>
      <p:sp>
        <p:nvSpPr>
          <p:cNvPr id="7" name="TextBox 6"/>
          <p:cNvSpPr txBox="1"/>
          <p:nvPr/>
        </p:nvSpPr>
        <p:spPr>
          <a:xfrm>
            <a:off x="1092702" y="3389590"/>
            <a:ext cx="3584343" cy="246221"/>
          </a:xfrm>
          <a:prstGeom prst="rect">
            <a:avLst/>
          </a:prstGeom>
          <a:noFill/>
        </p:spPr>
        <p:txBody>
          <a:bodyPr wrap="square" lIns="0" tIns="0" rIns="0" bIns="0" anchor="ctr">
            <a:spAutoFit/>
          </a:bodyPr>
          <a:lstStyle/>
          <a:p>
            <a:pPr algn="l"/>
            <a:r>
              <a:rPr sz="1600" b="1" i="0" u="none" dirty="0">
                <a:solidFill>
                  <a:srgbClr val="DC2626"/>
                </a:solidFill>
                <a:latin typeface="Noto Sans JP"/>
              </a:rPr>
              <a:t>価値が下がるスキル</a:t>
            </a:r>
          </a:p>
        </p:txBody>
      </p:sp>
      <p:sp>
        <p:nvSpPr>
          <p:cNvPr id="8" name="TextBox 7"/>
          <p:cNvSpPr txBox="1"/>
          <p:nvPr/>
        </p:nvSpPr>
        <p:spPr>
          <a:xfrm>
            <a:off x="6728133" y="3351492"/>
            <a:ext cx="4905375" cy="246221"/>
          </a:xfrm>
          <a:prstGeom prst="rect">
            <a:avLst/>
          </a:prstGeom>
          <a:noFill/>
        </p:spPr>
        <p:txBody>
          <a:bodyPr wrap="square" lIns="0" tIns="0" rIns="0" bIns="0" anchor="ctr">
            <a:spAutoFit/>
          </a:bodyPr>
          <a:lstStyle/>
          <a:p>
            <a:pPr algn="l"/>
            <a:r>
              <a:rPr sz="1600" b="1" i="0" u="none" dirty="0">
                <a:solidFill>
                  <a:srgbClr val="2563EB"/>
                </a:solidFill>
                <a:latin typeface="Noto Sans JP"/>
              </a:rPr>
              <a:t>価値が上がるスキル（エンジニア思考・上流スキル）</a:t>
            </a:r>
          </a:p>
        </p:txBody>
      </p:sp>
      <p:pic>
        <p:nvPicPr>
          <p:cNvPr id="9" name="Picture 8" descr="image.png"/>
          <p:cNvPicPr>
            <a:picLocks noChangeAspect="1"/>
          </p:cNvPicPr>
          <p:nvPr/>
        </p:nvPicPr>
        <p:blipFill>
          <a:blip r:embed="rId5"/>
          <a:stretch>
            <a:fillRect/>
          </a:stretch>
        </p:blipFill>
        <p:spPr>
          <a:xfrm>
            <a:off x="831850" y="3377327"/>
            <a:ext cx="181570" cy="236302"/>
          </a:xfrm>
          <a:prstGeom prst="rect">
            <a:avLst/>
          </a:prstGeom>
        </p:spPr>
      </p:pic>
      <p:sp>
        <p:nvSpPr>
          <p:cNvPr id="10" name="TextBox 9"/>
          <p:cNvSpPr txBox="1"/>
          <p:nvPr/>
        </p:nvSpPr>
        <p:spPr>
          <a:xfrm>
            <a:off x="800100" y="3760935"/>
            <a:ext cx="4905375" cy="225575"/>
          </a:xfrm>
          <a:prstGeom prst="rect">
            <a:avLst/>
          </a:prstGeom>
          <a:noFill/>
        </p:spPr>
        <p:txBody>
          <a:bodyPr wrap="square" lIns="0" tIns="0" rIns="0" bIns="0" anchor="t">
            <a:spAutoFit/>
          </a:bodyPr>
          <a:lstStyle/>
          <a:p>
            <a:pPr algn="l">
              <a:lnSpc>
                <a:spcPts val="1918"/>
              </a:lnSpc>
            </a:pPr>
            <a:r>
              <a:rPr sz="1400" b="1" i="0" u="none" dirty="0">
                <a:solidFill>
                  <a:srgbClr val="0F172A"/>
                </a:solidFill>
                <a:latin typeface="Noto Sans JP"/>
              </a:rPr>
              <a:t>プログラミング</a:t>
            </a:r>
            <a:endParaRPr lang="en-US" sz="1400" b="1" i="0" u="none" dirty="0">
              <a:solidFill>
                <a:srgbClr val="0F172A"/>
              </a:solidFill>
              <a:latin typeface="Noto Sans JP"/>
            </a:endParaRPr>
          </a:p>
        </p:txBody>
      </p:sp>
      <p:sp>
        <p:nvSpPr>
          <p:cNvPr id="12" name="TextBox 11"/>
          <p:cNvSpPr txBox="1"/>
          <p:nvPr/>
        </p:nvSpPr>
        <p:spPr>
          <a:xfrm>
            <a:off x="800100" y="5017350"/>
            <a:ext cx="4905375" cy="225575"/>
          </a:xfrm>
          <a:prstGeom prst="rect">
            <a:avLst/>
          </a:prstGeom>
          <a:noFill/>
        </p:spPr>
        <p:txBody>
          <a:bodyPr wrap="square" lIns="0" tIns="0" rIns="0" bIns="0" anchor="t">
            <a:spAutoFit/>
          </a:bodyPr>
          <a:lstStyle/>
          <a:p>
            <a:pPr algn="l">
              <a:lnSpc>
                <a:spcPts val="1918"/>
              </a:lnSpc>
            </a:pPr>
            <a:r>
              <a:rPr sz="1400" b="1" i="0" u="none" dirty="0">
                <a:solidFill>
                  <a:srgbClr val="0F172A"/>
                </a:solidFill>
                <a:latin typeface="Noto Sans JP"/>
              </a:rPr>
              <a:t>時間をかける作業</a:t>
            </a:r>
            <a:endParaRPr sz="1400" b="0" i="0" u="none" dirty="0">
              <a:solidFill>
                <a:srgbClr val="334155"/>
              </a:solidFill>
              <a:latin typeface="Noto Sans JP Medium"/>
            </a:endParaRPr>
          </a:p>
        </p:txBody>
      </p:sp>
      <p:pic>
        <p:nvPicPr>
          <p:cNvPr id="13" name="Picture 12" descr="image.png"/>
          <p:cNvPicPr>
            <a:picLocks noChangeAspect="1"/>
          </p:cNvPicPr>
          <p:nvPr/>
        </p:nvPicPr>
        <p:blipFill>
          <a:blip r:embed="rId6"/>
          <a:stretch>
            <a:fillRect/>
          </a:stretch>
        </p:blipFill>
        <p:spPr>
          <a:xfrm>
            <a:off x="6473206" y="3367949"/>
            <a:ext cx="187087" cy="243482"/>
          </a:xfrm>
          <a:prstGeom prst="rect">
            <a:avLst/>
          </a:prstGeom>
        </p:spPr>
      </p:pic>
      <p:sp>
        <p:nvSpPr>
          <p:cNvPr id="14" name="TextBox 13"/>
          <p:cNvSpPr txBox="1"/>
          <p:nvPr/>
        </p:nvSpPr>
        <p:spPr>
          <a:xfrm>
            <a:off x="6486525" y="3724275"/>
            <a:ext cx="4905375" cy="225575"/>
          </a:xfrm>
          <a:prstGeom prst="rect">
            <a:avLst/>
          </a:prstGeom>
          <a:noFill/>
        </p:spPr>
        <p:txBody>
          <a:bodyPr wrap="square" lIns="0" tIns="0" rIns="0" bIns="0" anchor="t">
            <a:spAutoFit/>
          </a:bodyPr>
          <a:lstStyle/>
          <a:p>
            <a:pPr algn="l">
              <a:lnSpc>
                <a:spcPts val="1918"/>
              </a:lnSpc>
            </a:pPr>
            <a:r>
              <a:rPr sz="1400" b="1" i="0" u="none" dirty="0">
                <a:solidFill>
                  <a:srgbClr val="0F172A"/>
                </a:solidFill>
                <a:latin typeface="Noto Sans JP"/>
              </a:rPr>
              <a:t>AIマネジメント力：</a:t>
            </a:r>
            <a:endParaRPr sz="1400" b="0" i="0" u="none" dirty="0">
              <a:solidFill>
                <a:srgbClr val="334155"/>
              </a:solidFill>
              <a:latin typeface="Noto Sans JP Medium"/>
            </a:endParaRPr>
          </a:p>
        </p:txBody>
      </p:sp>
      <p:sp>
        <p:nvSpPr>
          <p:cNvPr id="15" name="TextBox 14"/>
          <p:cNvSpPr txBox="1"/>
          <p:nvPr/>
        </p:nvSpPr>
        <p:spPr>
          <a:xfrm>
            <a:off x="6486525" y="4322730"/>
            <a:ext cx="4905375" cy="225575"/>
          </a:xfrm>
          <a:prstGeom prst="rect">
            <a:avLst/>
          </a:prstGeom>
          <a:noFill/>
        </p:spPr>
        <p:txBody>
          <a:bodyPr wrap="square" lIns="0" tIns="0" rIns="0" bIns="0" anchor="t">
            <a:spAutoFit/>
          </a:bodyPr>
          <a:lstStyle/>
          <a:p>
            <a:pPr algn="l">
              <a:lnSpc>
                <a:spcPts val="1918"/>
              </a:lnSpc>
            </a:pPr>
            <a:r>
              <a:rPr sz="1400" b="1" i="0" u="none" dirty="0">
                <a:solidFill>
                  <a:srgbClr val="0F172A"/>
                </a:solidFill>
                <a:latin typeface="Noto Sans JP"/>
              </a:rPr>
              <a:t>ヒアリング・企画力</a:t>
            </a:r>
            <a:endParaRPr sz="1400" b="0" i="0" u="none" dirty="0">
              <a:solidFill>
                <a:srgbClr val="334155"/>
              </a:solidFill>
              <a:latin typeface="Noto Sans JP Medium"/>
            </a:endParaRPr>
          </a:p>
        </p:txBody>
      </p:sp>
      <p:sp>
        <p:nvSpPr>
          <p:cNvPr id="16" name="TextBox 15"/>
          <p:cNvSpPr txBox="1"/>
          <p:nvPr/>
        </p:nvSpPr>
        <p:spPr>
          <a:xfrm>
            <a:off x="6486524" y="4937216"/>
            <a:ext cx="4905375" cy="225575"/>
          </a:xfrm>
          <a:prstGeom prst="rect">
            <a:avLst/>
          </a:prstGeom>
          <a:noFill/>
        </p:spPr>
        <p:txBody>
          <a:bodyPr wrap="square" lIns="0" tIns="0" rIns="0" bIns="0" anchor="t">
            <a:spAutoFit/>
          </a:bodyPr>
          <a:lstStyle/>
          <a:p>
            <a:pPr algn="l">
              <a:lnSpc>
                <a:spcPts val="1918"/>
              </a:lnSpc>
            </a:pPr>
            <a:r>
              <a:rPr sz="1400" b="1" i="0" u="none" dirty="0">
                <a:solidFill>
                  <a:srgbClr val="0F172A"/>
                </a:solidFill>
                <a:latin typeface="Noto Sans JP"/>
              </a:rPr>
              <a:t>チェック力</a:t>
            </a:r>
            <a:endParaRPr sz="1400" b="0" i="0" u="none" dirty="0">
              <a:solidFill>
                <a:srgbClr val="334155"/>
              </a:solidFill>
              <a:latin typeface="Noto Sans JP Medium"/>
            </a:endParaRPr>
          </a:p>
        </p:txBody>
      </p:sp>
      <p:sp>
        <p:nvSpPr>
          <p:cNvPr id="17" name="TextBox 16"/>
          <p:cNvSpPr txBox="1"/>
          <p:nvPr/>
        </p:nvSpPr>
        <p:spPr>
          <a:xfrm>
            <a:off x="6486525" y="5529131"/>
            <a:ext cx="4905375" cy="225575"/>
          </a:xfrm>
          <a:prstGeom prst="rect">
            <a:avLst/>
          </a:prstGeom>
          <a:noFill/>
        </p:spPr>
        <p:txBody>
          <a:bodyPr wrap="square" lIns="0" tIns="0" rIns="0" bIns="0" anchor="t">
            <a:spAutoFit/>
          </a:bodyPr>
          <a:lstStyle/>
          <a:p>
            <a:pPr algn="l">
              <a:lnSpc>
                <a:spcPts val="1918"/>
              </a:lnSpc>
            </a:pPr>
            <a:r>
              <a:rPr sz="1400" b="1" i="0" u="none" dirty="0">
                <a:solidFill>
                  <a:srgbClr val="0F172A"/>
                </a:solidFill>
                <a:latin typeface="Noto Sans JP"/>
              </a:rPr>
              <a:t>マネジメント力</a:t>
            </a:r>
            <a:endParaRPr lang="en-US" sz="1400" b="1" i="0" u="none" dirty="0">
              <a:solidFill>
                <a:srgbClr val="0F172A"/>
              </a:solidFill>
              <a:latin typeface="Noto Sans JP"/>
            </a:endParaRPr>
          </a:p>
        </p:txBody>
      </p:sp>
      <p:sp>
        <p:nvSpPr>
          <p:cNvPr id="18" name="TextBox 17"/>
          <p:cNvSpPr txBox="1"/>
          <p:nvPr/>
        </p:nvSpPr>
        <p:spPr>
          <a:xfrm>
            <a:off x="523875" y="487807"/>
            <a:ext cx="11668125" cy="325538"/>
          </a:xfrm>
          <a:prstGeom prst="rect">
            <a:avLst/>
          </a:prstGeom>
          <a:noFill/>
        </p:spPr>
        <p:txBody>
          <a:bodyPr wrap="square" lIns="0" tIns="0" rIns="0" bIns="0" anchor="ctr">
            <a:spAutoFit/>
          </a:bodyPr>
          <a:lstStyle/>
          <a:p>
            <a:pPr algn="l">
              <a:lnSpc>
                <a:spcPts val="2729"/>
              </a:lnSpc>
            </a:pPr>
            <a:r>
              <a:rPr sz="2100" b="1" i="0" u="none" dirty="0">
                <a:solidFill>
                  <a:srgbClr val="0F172A"/>
                </a:solidFill>
                <a:latin typeface="Noto Sans JP ExtraBold"/>
              </a:rPr>
              <a:t>今後</a:t>
            </a:r>
          </a:p>
        </p:txBody>
      </p:sp>
      <p:sp>
        <p:nvSpPr>
          <p:cNvPr id="19" name="Rectangle 18"/>
          <p:cNvSpPr/>
          <p:nvPr/>
        </p:nvSpPr>
        <p:spPr>
          <a:xfrm>
            <a:off x="523875" y="889545"/>
            <a:ext cx="111442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9">
            <a:extLst>
              <a:ext uri="{FF2B5EF4-FFF2-40B4-BE49-F238E27FC236}">
                <a16:creationId xmlns:a16="http://schemas.microsoft.com/office/drawing/2014/main" id="{B9E6A776-FB73-4C33-A4C5-724ABDB20936}"/>
              </a:ext>
            </a:extLst>
          </p:cNvPr>
          <p:cNvSpPr txBox="1"/>
          <p:nvPr/>
        </p:nvSpPr>
        <p:spPr>
          <a:xfrm>
            <a:off x="800100" y="4015928"/>
            <a:ext cx="4905375" cy="218265"/>
          </a:xfrm>
          <a:prstGeom prst="rect">
            <a:avLst/>
          </a:prstGeom>
          <a:noFill/>
        </p:spPr>
        <p:txBody>
          <a:bodyPr wrap="square" lIns="0" tIns="0" rIns="0" bIns="0" anchor="t">
            <a:spAutoFit/>
          </a:bodyPr>
          <a:lstStyle/>
          <a:p>
            <a:pPr algn="l">
              <a:lnSpc>
                <a:spcPts val="1918"/>
              </a:lnSpc>
            </a:pPr>
            <a:r>
              <a:rPr sz="1200" b="0" i="0" u="none" dirty="0">
                <a:solidFill>
                  <a:srgbClr val="334155"/>
                </a:solidFill>
                <a:latin typeface="Noto Sans JP Medium"/>
              </a:rPr>
              <a:t>コードを書くだけの作業</a:t>
            </a:r>
          </a:p>
        </p:txBody>
      </p:sp>
      <p:sp>
        <p:nvSpPr>
          <p:cNvPr id="22" name="TextBox 9">
            <a:extLst>
              <a:ext uri="{FF2B5EF4-FFF2-40B4-BE49-F238E27FC236}">
                <a16:creationId xmlns:a16="http://schemas.microsoft.com/office/drawing/2014/main" id="{6395AED3-A606-455E-BE7C-741552B9EF81}"/>
              </a:ext>
            </a:extLst>
          </p:cNvPr>
          <p:cNvSpPr txBox="1"/>
          <p:nvPr/>
        </p:nvSpPr>
        <p:spPr>
          <a:xfrm>
            <a:off x="800100" y="4635469"/>
            <a:ext cx="4905375" cy="218265"/>
          </a:xfrm>
          <a:prstGeom prst="rect">
            <a:avLst/>
          </a:prstGeom>
          <a:noFill/>
        </p:spPr>
        <p:txBody>
          <a:bodyPr wrap="square" lIns="0" tIns="0" rIns="0" bIns="0" anchor="t">
            <a:spAutoFit/>
          </a:bodyPr>
          <a:lstStyle/>
          <a:p>
            <a:pPr algn="l">
              <a:lnSpc>
                <a:spcPts val="1918"/>
              </a:lnSpc>
            </a:pPr>
            <a:r>
              <a:rPr lang="ja-JP" altLang="en-US" sz="1200" b="0" i="0" u="none" dirty="0">
                <a:solidFill>
                  <a:srgbClr val="334155"/>
                </a:solidFill>
                <a:latin typeface="Noto Sans JP Medium" panose="020B0200000000000000" pitchFamily="50" charset="-128"/>
                <a:ea typeface="Noto Sans JP Medium" panose="020B0200000000000000" pitchFamily="50" charset="-128"/>
              </a:rPr>
              <a:t>監視業務、運用業務</a:t>
            </a:r>
            <a:r>
              <a:rPr lang="en-US" altLang="ja-JP" sz="1200" b="0" i="0" u="none" dirty="0">
                <a:solidFill>
                  <a:srgbClr val="334155"/>
                </a:solidFill>
                <a:latin typeface="Noto Sans JP Medium" panose="020B0200000000000000" pitchFamily="50" charset="-128"/>
                <a:ea typeface="Noto Sans JP Medium" panose="020B0200000000000000" pitchFamily="50" charset="-128"/>
              </a:rPr>
              <a:t>(</a:t>
            </a:r>
            <a:r>
              <a:rPr lang="ja-JP" altLang="en-US" sz="1200" b="0" i="0" u="none" dirty="0">
                <a:solidFill>
                  <a:srgbClr val="334155"/>
                </a:solidFill>
                <a:latin typeface="Noto Sans JP Medium" panose="020B0200000000000000" pitchFamily="50" charset="-128"/>
                <a:ea typeface="Noto Sans JP Medium" panose="020B0200000000000000" pitchFamily="50" charset="-128"/>
              </a:rPr>
              <a:t>手順に沿ったオペレーション作業</a:t>
            </a:r>
            <a:r>
              <a:rPr lang="en-US" altLang="ja-JP" sz="1200" b="0" i="0" u="none" dirty="0">
                <a:solidFill>
                  <a:srgbClr val="334155"/>
                </a:solidFill>
                <a:latin typeface="Noto Sans JP Medium" panose="020B0200000000000000" pitchFamily="50" charset="-128"/>
                <a:ea typeface="Noto Sans JP Medium" panose="020B0200000000000000" pitchFamily="50" charset="-128"/>
              </a:rPr>
              <a:t>)</a:t>
            </a:r>
          </a:p>
        </p:txBody>
      </p:sp>
      <p:sp>
        <p:nvSpPr>
          <p:cNvPr id="23" name="TextBox 9">
            <a:extLst>
              <a:ext uri="{FF2B5EF4-FFF2-40B4-BE49-F238E27FC236}">
                <a16:creationId xmlns:a16="http://schemas.microsoft.com/office/drawing/2014/main" id="{07064606-1FEE-459D-A761-0D0375AE8C3C}"/>
              </a:ext>
            </a:extLst>
          </p:cNvPr>
          <p:cNvSpPr txBox="1"/>
          <p:nvPr/>
        </p:nvSpPr>
        <p:spPr>
          <a:xfrm>
            <a:off x="800100" y="4366627"/>
            <a:ext cx="4905375" cy="225575"/>
          </a:xfrm>
          <a:prstGeom prst="rect">
            <a:avLst/>
          </a:prstGeom>
          <a:noFill/>
        </p:spPr>
        <p:txBody>
          <a:bodyPr wrap="square" lIns="0" tIns="0" rIns="0" bIns="0" anchor="t">
            <a:spAutoFit/>
          </a:bodyPr>
          <a:lstStyle/>
          <a:p>
            <a:pPr algn="l">
              <a:lnSpc>
                <a:spcPts val="1918"/>
              </a:lnSpc>
            </a:pPr>
            <a:r>
              <a:rPr lang="ja-JP" altLang="en-US" sz="1400" b="1" i="0" u="none" dirty="0">
                <a:solidFill>
                  <a:srgbClr val="0F172A"/>
                </a:solidFill>
                <a:latin typeface="Noto Sans JP" panose="020B0200000000000000" pitchFamily="50" charset="-128"/>
                <a:ea typeface="Noto Sans JP" panose="020B0200000000000000" pitchFamily="50" charset="-128"/>
              </a:rPr>
              <a:t>インフラ</a:t>
            </a:r>
            <a:endParaRPr lang="en-US" sz="1400" b="1" i="0" u="none" dirty="0">
              <a:solidFill>
                <a:srgbClr val="0F172A"/>
              </a:solidFill>
              <a:latin typeface="Noto Sans JP" panose="020B0200000000000000" pitchFamily="50" charset="-128"/>
              <a:ea typeface="Noto Sans JP" panose="020B0200000000000000" pitchFamily="50" charset="-128"/>
            </a:endParaRPr>
          </a:p>
        </p:txBody>
      </p:sp>
      <p:sp>
        <p:nvSpPr>
          <p:cNvPr id="24" name="TextBox 9">
            <a:extLst>
              <a:ext uri="{FF2B5EF4-FFF2-40B4-BE49-F238E27FC236}">
                <a16:creationId xmlns:a16="http://schemas.microsoft.com/office/drawing/2014/main" id="{658BDFA4-C7B1-43E3-9B4F-74CB3B8BDE1B}"/>
              </a:ext>
            </a:extLst>
          </p:cNvPr>
          <p:cNvSpPr txBox="1"/>
          <p:nvPr/>
        </p:nvSpPr>
        <p:spPr>
          <a:xfrm>
            <a:off x="800100" y="5286192"/>
            <a:ext cx="4905375" cy="218265"/>
          </a:xfrm>
          <a:prstGeom prst="rect">
            <a:avLst/>
          </a:prstGeom>
          <a:noFill/>
        </p:spPr>
        <p:txBody>
          <a:bodyPr wrap="square" lIns="0" tIns="0" rIns="0" bIns="0" anchor="t">
            <a:spAutoFit/>
          </a:bodyPr>
          <a:lstStyle/>
          <a:p>
            <a:pPr algn="l">
              <a:lnSpc>
                <a:spcPts val="1918"/>
              </a:lnSpc>
            </a:pPr>
            <a:r>
              <a:rPr lang="ja-JP" altLang="en-US" sz="1200" b="0" i="0" u="none" dirty="0">
                <a:solidFill>
                  <a:srgbClr val="334155"/>
                </a:solidFill>
                <a:latin typeface="Noto Sans JP Medium" panose="020B0200000000000000" pitchFamily="50" charset="-128"/>
                <a:ea typeface="Noto Sans JP Medium" panose="020B0200000000000000" pitchFamily="50" charset="-128"/>
              </a:rPr>
              <a:t>大量のコードを書く労働量</a:t>
            </a:r>
            <a:endParaRPr lang="en-US" altLang="ja-JP" sz="1200" b="0" i="0" u="none" dirty="0">
              <a:solidFill>
                <a:srgbClr val="334155"/>
              </a:solidFill>
              <a:latin typeface="Noto Sans JP Medium" panose="020B0200000000000000" pitchFamily="50" charset="-128"/>
              <a:ea typeface="Noto Sans JP Medium" panose="020B0200000000000000" pitchFamily="50" charset="-128"/>
            </a:endParaRPr>
          </a:p>
        </p:txBody>
      </p:sp>
      <p:sp>
        <p:nvSpPr>
          <p:cNvPr id="25" name="TextBox 9">
            <a:extLst>
              <a:ext uri="{FF2B5EF4-FFF2-40B4-BE49-F238E27FC236}">
                <a16:creationId xmlns:a16="http://schemas.microsoft.com/office/drawing/2014/main" id="{F3F91D0E-9432-4D68-B383-3D5F049D18BE}"/>
              </a:ext>
            </a:extLst>
          </p:cNvPr>
          <p:cNvSpPr txBox="1"/>
          <p:nvPr/>
        </p:nvSpPr>
        <p:spPr>
          <a:xfrm>
            <a:off x="6486525" y="3996986"/>
            <a:ext cx="4905375" cy="218265"/>
          </a:xfrm>
          <a:prstGeom prst="rect">
            <a:avLst/>
          </a:prstGeom>
          <a:noFill/>
        </p:spPr>
        <p:txBody>
          <a:bodyPr wrap="square" lIns="0" tIns="0" rIns="0" bIns="0" anchor="t">
            <a:spAutoFit/>
          </a:bodyPr>
          <a:lstStyle/>
          <a:p>
            <a:pPr algn="l">
              <a:lnSpc>
                <a:spcPts val="1918"/>
              </a:lnSpc>
            </a:pPr>
            <a:r>
              <a:rPr lang="ja-JP" altLang="en-US" sz="1200" b="0" i="0" u="none" dirty="0">
                <a:solidFill>
                  <a:srgbClr val="334155"/>
                </a:solidFill>
                <a:latin typeface="Noto Sans JP Medium" panose="020B0200000000000000" pitchFamily="50" charset="-128"/>
                <a:ea typeface="Noto Sans JP Medium" panose="020B0200000000000000" pitchFamily="50" charset="-128"/>
              </a:rPr>
              <a:t>複数の</a:t>
            </a:r>
            <a:r>
              <a:rPr lang="en-US" altLang="ja-JP" sz="1200" b="0" i="0" u="none" dirty="0">
                <a:solidFill>
                  <a:srgbClr val="334155"/>
                </a:solidFill>
                <a:latin typeface="Noto Sans JP Medium" panose="020B0200000000000000" pitchFamily="50" charset="-128"/>
                <a:ea typeface="Noto Sans JP Medium" panose="020B0200000000000000" pitchFamily="50" charset="-128"/>
              </a:rPr>
              <a:t>AI</a:t>
            </a:r>
            <a:r>
              <a:rPr lang="ja-JP" altLang="en-US" sz="1200" b="0" i="0" u="none" dirty="0">
                <a:solidFill>
                  <a:srgbClr val="334155"/>
                </a:solidFill>
                <a:latin typeface="Noto Sans JP Medium" panose="020B0200000000000000" pitchFamily="50" charset="-128"/>
                <a:ea typeface="Noto Sans JP Medium" panose="020B0200000000000000" pitchFamily="50" charset="-128"/>
              </a:rPr>
              <a:t>に役割を与え、チームとして上手く動かす</a:t>
            </a:r>
            <a:endParaRPr sz="1200" b="0" i="0" u="none" dirty="0">
              <a:solidFill>
                <a:srgbClr val="334155"/>
              </a:solidFill>
              <a:latin typeface="Noto Sans JP Medium" panose="020B0200000000000000" pitchFamily="50" charset="-128"/>
              <a:ea typeface="Noto Sans JP Medium" panose="020B0200000000000000" pitchFamily="50" charset="-128"/>
            </a:endParaRPr>
          </a:p>
        </p:txBody>
      </p:sp>
      <p:sp>
        <p:nvSpPr>
          <p:cNvPr id="26" name="TextBox 9">
            <a:extLst>
              <a:ext uri="{FF2B5EF4-FFF2-40B4-BE49-F238E27FC236}">
                <a16:creationId xmlns:a16="http://schemas.microsoft.com/office/drawing/2014/main" id="{E8B5E320-66F8-43AF-9C44-CB262D68B35F}"/>
              </a:ext>
            </a:extLst>
          </p:cNvPr>
          <p:cNvSpPr txBox="1"/>
          <p:nvPr/>
        </p:nvSpPr>
        <p:spPr>
          <a:xfrm>
            <a:off x="6486525" y="4601658"/>
            <a:ext cx="4905375" cy="218265"/>
          </a:xfrm>
          <a:prstGeom prst="rect">
            <a:avLst/>
          </a:prstGeom>
          <a:noFill/>
        </p:spPr>
        <p:txBody>
          <a:bodyPr wrap="square" lIns="0" tIns="0" rIns="0" bIns="0" anchor="t">
            <a:spAutoFit/>
          </a:bodyPr>
          <a:lstStyle/>
          <a:p>
            <a:pPr algn="l">
              <a:lnSpc>
                <a:spcPts val="1918"/>
              </a:lnSpc>
            </a:pPr>
            <a:r>
              <a:rPr lang="ja-JP" altLang="en-US" sz="1200" b="0" i="0" u="none" dirty="0">
                <a:solidFill>
                  <a:srgbClr val="334155"/>
                </a:solidFill>
                <a:latin typeface="Noto Sans JP Medium" panose="020B0200000000000000" pitchFamily="50" charset="-128"/>
                <a:ea typeface="Noto Sans JP Medium" panose="020B0200000000000000" pitchFamily="50" charset="-128"/>
              </a:rPr>
              <a:t>顧客の悩みを深く聴き出し、解くべき本質的な問題を定義する</a:t>
            </a:r>
          </a:p>
        </p:txBody>
      </p:sp>
      <p:sp>
        <p:nvSpPr>
          <p:cNvPr id="27" name="TextBox 9">
            <a:extLst>
              <a:ext uri="{FF2B5EF4-FFF2-40B4-BE49-F238E27FC236}">
                <a16:creationId xmlns:a16="http://schemas.microsoft.com/office/drawing/2014/main" id="{3C72BCF7-95C4-48A7-B146-894A86B5E590}"/>
              </a:ext>
            </a:extLst>
          </p:cNvPr>
          <p:cNvSpPr txBox="1"/>
          <p:nvPr/>
        </p:nvSpPr>
        <p:spPr>
          <a:xfrm>
            <a:off x="6486525" y="5213236"/>
            <a:ext cx="4905375" cy="218265"/>
          </a:xfrm>
          <a:prstGeom prst="rect">
            <a:avLst/>
          </a:prstGeom>
          <a:noFill/>
        </p:spPr>
        <p:txBody>
          <a:bodyPr wrap="square" lIns="0" tIns="0" rIns="0" bIns="0" anchor="t">
            <a:spAutoFit/>
          </a:bodyPr>
          <a:lstStyle/>
          <a:p>
            <a:pPr algn="l">
              <a:lnSpc>
                <a:spcPts val="1918"/>
              </a:lnSpc>
            </a:pPr>
            <a:r>
              <a:rPr lang="en-US" altLang="ja-JP" sz="1200" b="0" i="0" u="none" dirty="0">
                <a:solidFill>
                  <a:srgbClr val="334155"/>
                </a:solidFill>
                <a:latin typeface="Noto Sans JP Medium" panose="020B0200000000000000" pitchFamily="50" charset="-128"/>
                <a:ea typeface="Noto Sans JP Medium" panose="020B0200000000000000" pitchFamily="50" charset="-128"/>
              </a:rPr>
              <a:t>AI</a:t>
            </a:r>
            <a:r>
              <a:rPr lang="ja-JP" altLang="en-US" sz="1200" b="0" i="0" u="none" dirty="0">
                <a:solidFill>
                  <a:srgbClr val="334155"/>
                </a:solidFill>
                <a:latin typeface="Noto Sans JP Medium" panose="020B0200000000000000" pitchFamily="50" charset="-128"/>
                <a:ea typeface="Noto Sans JP Medium" panose="020B0200000000000000" pitchFamily="50" charset="-128"/>
              </a:rPr>
              <a:t>が作った内容が安全で正しいか最終判定する</a:t>
            </a:r>
          </a:p>
        </p:txBody>
      </p:sp>
      <p:sp>
        <p:nvSpPr>
          <p:cNvPr id="28" name="TextBox 9">
            <a:extLst>
              <a:ext uri="{FF2B5EF4-FFF2-40B4-BE49-F238E27FC236}">
                <a16:creationId xmlns:a16="http://schemas.microsoft.com/office/drawing/2014/main" id="{3A202B45-B2AE-4D55-9028-78C14D8FDE35}"/>
              </a:ext>
            </a:extLst>
          </p:cNvPr>
          <p:cNvSpPr txBox="1"/>
          <p:nvPr/>
        </p:nvSpPr>
        <p:spPr>
          <a:xfrm>
            <a:off x="6473206" y="5797973"/>
            <a:ext cx="4905375" cy="218265"/>
          </a:xfrm>
          <a:prstGeom prst="rect">
            <a:avLst/>
          </a:prstGeom>
          <a:noFill/>
        </p:spPr>
        <p:txBody>
          <a:bodyPr wrap="square" lIns="0" tIns="0" rIns="0" bIns="0" anchor="t">
            <a:spAutoFit/>
          </a:bodyPr>
          <a:lstStyle/>
          <a:p>
            <a:pPr algn="l">
              <a:lnSpc>
                <a:spcPts val="1918"/>
              </a:lnSpc>
            </a:pPr>
            <a:r>
              <a:rPr lang="ja-JP" altLang="en-US" sz="1200" b="0" i="0" u="none" dirty="0">
                <a:solidFill>
                  <a:srgbClr val="334155"/>
                </a:solidFill>
                <a:latin typeface="Noto Sans JP Medium" panose="020B0200000000000000" pitchFamily="50" charset="-128"/>
                <a:ea typeface="Noto Sans JP Medium" panose="020B0200000000000000" pitchFamily="50" charset="-128"/>
              </a:rPr>
              <a:t>ヒト、モノ、カネ、スケジュールを正しく管理し、チームを引っ張る力</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23875" y="2202953"/>
            <a:ext cx="11144250" cy="2370087"/>
          </a:xfrm>
          <a:prstGeom prst="rect">
            <a:avLst/>
          </a:prstGeom>
        </p:spPr>
      </p:pic>
      <p:pic>
        <p:nvPicPr>
          <p:cNvPr id="3" name="Picture 2" descr="image.png"/>
          <p:cNvPicPr>
            <a:picLocks noChangeAspect="1"/>
          </p:cNvPicPr>
          <p:nvPr/>
        </p:nvPicPr>
        <p:blipFill>
          <a:blip r:embed="rId3"/>
          <a:stretch>
            <a:fillRect/>
          </a:stretch>
        </p:blipFill>
        <p:spPr>
          <a:xfrm>
            <a:off x="523875" y="4763541"/>
            <a:ext cx="11144250" cy="600075"/>
          </a:xfrm>
          <a:prstGeom prst="rect">
            <a:avLst/>
          </a:prstGeom>
        </p:spPr>
      </p:pic>
      <p:sp>
        <p:nvSpPr>
          <p:cNvPr id="5" name="TextBox 4"/>
          <p:cNvSpPr txBox="1"/>
          <p:nvPr/>
        </p:nvSpPr>
        <p:spPr>
          <a:xfrm>
            <a:off x="1066800" y="2441078"/>
            <a:ext cx="10363200" cy="243656"/>
          </a:xfrm>
          <a:prstGeom prst="rect">
            <a:avLst/>
          </a:prstGeom>
          <a:noFill/>
        </p:spPr>
        <p:txBody>
          <a:bodyPr wrap="square" lIns="0" tIns="0" rIns="0" bIns="0" anchor="t">
            <a:spAutoFit/>
          </a:bodyPr>
          <a:lstStyle/>
          <a:p>
            <a:pPr algn="l">
              <a:lnSpc>
                <a:spcPts val="1918"/>
              </a:lnSpc>
            </a:pPr>
            <a:r>
              <a:rPr sz="1600" b="1" i="0" u="none" dirty="0">
                <a:solidFill>
                  <a:srgbClr val="0F172A"/>
                </a:solidFill>
                <a:latin typeface="Noto Sans JP"/>
              </a:rPr>
              <a:t>AIへの適応は「必須</a:t>
            </a:r>
            <a:r>
              <a:rPr lang="ja-JP" altLang="en-US" sz="1600" b="1" i="0" u="none" dirty="0">
                <a:solidFill>
                  <a:srgbClr val="0F172A"/>
                </a:solidFill>
                <a:latin typeface="Noto Sans JP"/>
              </a:rPr>
              <a:t>」</a:t>
            </a:r>
            <a:endParaRPr lang="en-US" altLang="ja-JP" sz="1600" b="1" i="0" u="none" dirty="0">
              <a:solidFill>
                <a:srgbClr val="0F172A"/>
              </a:solidFill>
              <a:latin typeface="Noto Sans JP"/>
            </a:endParaRPr>
          </a:p>
        </p:txBody>
      </p:sp>
      <p:sp>
        <p:nvSpPr>
          <p:cNvPr id="6" name="TextBox 5"/>
          <p:cNvSpPr txBox="1"/>
          <p:nvPr/>
        </p:nvSpPr>
        <p:spPr>
          <a:xfrm>
            <a:off x="914400" y="3123158"/>
            <a:ext cx="10363200" cy="243656"/>
          </a:xfrm>
          <a:prstGeom prst="rect">
            <a:avLst/>
          </a:prstGeom>
          <a:noFill/>
        </p:spPr>
        <p:txBody>
          <a:bodyPr wrap="square" lIns="0" tIns="0" rIns="0" bIns="0" anchor="t">
            <a:spAutoFit/>
          </a:bodyPr>
          <a:lstStyle/>
          <a:p>
            <a:pPr algn="l">
              <a:lnSpc>
                <a:spcPts val="1918"/>
              </a:lnSpc>
            </a:pPr>
            <a:r>
              <a:rPr sz="1600" b="1" i="0" u="none" dirty="0">
                <a:solidFill>
                  <a:srgbClr val="0F172A"/>
                </a:solidFill>
                <a:latin typeface="Noto Sans JP"/>
              </a:rPr>
              <a:t>「使われる側」ではなく「使いこなす側」へ</a:t>
            </a:r>
            <a:endParaRPr lang="en-US" sz="1600" dirty="0">
              <a:solidFill>
                <a:srgbClr val="334155"/>
              </a:solidFill>
              <a:latin typeface="Noto Sans JP Medium"/>
            </a:endParaRPr>
          </a:p>
        </p:txBody>
      </p:sp>
      <p:sp>
        <p:nvSpPr>
          <p:cNvPr id="7" name="TextBox 6"/>
          <p:cNvSpPr txBox="1"/>
          <p:nvPr/>
        </p:nvSpPr>
        <p:spPr>
          <a:xfrm>
            <a:off x="1066800" y="3805237"/>
            <a:ext cx="10363200" cy="243656"/>
          </a:xfrm>
          <a:prstGeom prst="rect">
            <a:avLst/>
          </a:prstGeom>
          <a:noFill/>
        </p:spPr>
        <p:txBody>
          <a:bodyPr wrap="square" lIns="0" tIns="0" rIns="0" bIns="0" anchor="t">
            <a:spAutoFit/>
          </a:bodyPr>
          <a:lstStyle/>
          <a:p>
            <a:pPr algn="l">
              <a:lnSpc>
                <a:spcPts val="1918"/>
              </a:lnSpc>
            </a:pPr>
            <a:r>
              <a:rPr sz="1600" b="1" i="0" u="none" dirty="0">
                <a:solidFill>
                  <a:srgbClr val="0F172A"/>
                </a:solidFill>
                <a:latin typeface="Noto Sans JP"/>
              </a:rPr>
              <a:t>人間にしかできない「上流・マネジメント」を磨く</a:t>
            </a:r>
            <a:endParaRPr lang="en-US" sz="1600" b="0" i="0" u="none" dirty="0">
              <a:solidFill>
                <a:srgbClr val="334155"/>
              </a:solidFill>
              <a:latin typeface="Noto Sans JP Medium"/>
            </a:endParaRPr>
          </a:p>
        </p:txBody>
      </p:sp>
      <p:pic>
        <p:nvPicPr>
          <p:cNvPr id="8" name="Picture 7" descr="image.png"/>
          <p:cNvPicPr>
            <a:picLocks noChangeAspect="1"/>
          </p:cNvPicPr>
          <p:nvPr/>
        </p:nvPicPr>
        <p:blipFill>
          <a:blip r:embed="rId4"/>
          <a:stretch>
            <a:fillRect/>
          </a:stretch>
        </p:blipFill>
        <p:spPr>
          <a:xfrm>
            <a:off x="762000" y="2455366"/>
            <a:ext cx="148232" cy="219075"/>
          </a:xfrm>
          <a:prstGeom prst="rect">
            <a:avLst/>
          </a:prstGeom>
        </p:spPr>
      </p:pic>
      <p:pic>
        <p:nvPicPr>
          <p:cNvPr id="9" name="Picture 8" descr="image.png"/>
          <p:cNvPicPr>
            <a:picLocks noChangeAspect="1"/>
          </p:cNvPicPr>
          <p:nvPr/>
        </p:nvPicPr>
        <p:blipFill>
          <a:blip r:embed="rId5"/>
          <a:stretch>
            <a:fillRect/>
          </a:stretch>
        </p:blipFill>
        <p:spPr>
          <a:xfrm>
            <a:off x="762000" y="3137445"/>
            <a:ext cx="148232" cy="219075"/>
          </a:xfrm>
          <a:prstGeom prst="rect">
            <a:avLst/>
          </a:prstGeom>
        </p:spPr>
      </p:pic>
      <p:pic>
        <p:nvPicPr>
          <p:cNvPr id="10" name="Picture 9" descr="image.png"/>
          <p:cNvPicPr>
            <a:picLocks noChangeAspect="1"/>
          </p:cNvPicPr>
          <p:nvPr/>
        </p:nvPicPr>
        <p:blipFill>
          <a:blip r:embed="rId6"/>
          <a:stretch>
            <a:fillRect/>
          </a:stretch>
        </p:blipFill>
        <p:spPr>
          <a:xfrm>
            <a:off x="762000" y="3819525"/>
            <a:ext cx="148232" cy="219075"/>
          </a:xfrm>
          <a:prstGeom prst="rect">
            <a:avLst/>
          </a:prstGeom>
        </p:spPr>
      </p:pic>
      <p:sp>
        <p:nvSpPr>
          <p:cNvPr id="11" name="TextBox 10"/>
          <p:cNvSpPr txBox="1"/>
          <p:nvPr/>
        </p:nvSpPr>
        <p:spPr>
          <a:xfrm>
            <a:off x="523875" y="487807"/>
            <a:ext cx="11668125" cy="325538"/>
          </a:xfrm>
          <a:prstGeom prst="rect">
            <a:avLst/>
          </a:prstGeom>
          <a:noFill/>
        </p:spPr>
        <p:txBody>
          <a:bodyPr wrap="square" lIns="0" tIns="0" rIns="0" bIns="0" anchor="ctr">
            <a:spAutoFit/>
          </a:bodyPr>
          <a:lstStyle/>
          <a:p>
            <a:pPr algn="l">
              <a:lnSpc>
                <a:spcPts val="2729"/>
              </a:lnSpc>
            </a:pPr>
            <a:r>
              <a:rPr sz="2100" b="1" i="0" u="none" dirty="0">
                <a:solidFill>
                  <a:srgbClr val="0F172A"/>
                </a:solidFill>
                <a:latin typeface="Noto Sans JP ExtraBold"/>
              </a:rPr>
              <a:t>まとめ</a:t>
            </a:r>
          </a:p>
        </p:txBody>
      </p:sp>
      <p:sp>
        <p:nvSpPr>
          <p:cNvPr id="12" name="Rectangle 11"/>
          <p:cNvSpPr/>
          <p:nvPr/>
        </p:nvSpPr>
        <p:spPr>
          <a:xfrm>
            <a:off x="523875" y="889545"/>
            <a:ext cx="1114425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5">
            <a:extLst>
              <a:ext uri="{FF2B5EF4-FFF2-40B4-BE49-F238E27FC236}">
                <a16:creationId xmlns:a16="http://schemas.microsoft.com/office/drawing/2014/main" id="{8E47E664-C638-49E6-A4AA-545BE9F362C2}"/>
              </a:ext>
            </a:extLst>
          </p:cNvPr>
          <p:cNvSpPr txBox="1"/>
          <p:nvPr/>
        </p:nvSpPr>
        <p:spPr>
          <a:xfrm>
            <a:off x="1028700" y="3396071"/>
            <a:ext cx="10363200" cy="219484"/>
          </a:xfrm>
          <a:prstGeom prst="rect">
            <a:avLst/>
          </a:prstGeom>
          <a:noFill/>
        </p:spPr>
        <p:txBody>
          <a:bodyPr wrap="square" lIns="0" tIns="0" rIns="0" bIns="0" anchor="t">
            <a:spAutoFit/>
          </a:bodyPr>
          <a:lstStyle/>
          <a:p>
            <a:pPr algn="l">
              <a:lnSpc>
                <a:spcPts val="1918"/>
              </a:lnSpc>
            </a:pPr>
            <a:r>
              <a:rPr lang="ja-JP" altLang="en-US" sz="1200" b="1" i="0" u="none" dirty="0">
                <a:solidFill>
                  <a:srgbClr val="0F172A"/>
                </a:solidFill>
                <a:latin typeface="Noto Sans JP Medium" panose="020B0200000000000000" pitchFamily="50" charset="-128"/>
                <a:ea typeface="Noto Sans JP Medium" panose="020B0200000000000000" pitchFamily="50" charset="-128"/>
              </a:rPr>
              <a:t>指示通りに動く作業者から、</a:t>
            </a:r>
            <a:r>
              <a:rPr lang="en-US" altLang="ja-JP" sz="1200" b="1" i="0" u="none" dirty="0">
                <a:solidFill>
                  <a:srgbClr val="0F172A"/>
                </a:solidFill>
                <a:latin typeface="Noto Sans JP Medium" panose="020B0200000000000000" pitchFamily="50" charset="-128"/>
                <a:ea typeface="Noto Sans JP Medium" panose="020B0200000000000000" pitchFamily="50" charset="-128"/>
              </a:rPr>
              <a:t>AI</a:t>
            </a:r>
            <a:r>
              <a:rPr lang="ja-JP" altLang="en-US" sz="1200" b="1" i="0" u="none" dirty="0">
                <a:solidFill>
                  <a:srgbClr val="0F172A"/>
                </a:solidFill>
                <a:latin typeface="Noto Sans JP Medium" panose="020B0200000000000000" pitchFamily="50" charset="-128"/>
                <a:ea typeface="Noto Sans JP Medium" panose="020B0200000000000000" pitchFamily="50" charset="-128"/>
              </a:rPr>
              <a:t>に目的を与えて動かす「指揮官」を目指す</a:t>
            </a:r>
          </a:p>
        </p:txBody>
      </p:sp>
      <p:sp>
        <p:nvSpPr>
          <p:cNvPr id="14" name="TextBox 5">
            <a:extLst>
              <a:ext uri="{FF2B5EF4-FFF2-40B4-BE49-F238E27FC236}">
                <a16:creationId xmlns:a16="http://schemas.microsoft.com/office/drawing/2014/main" id="{C467AD7E-21A0-4161-B773-5F957F74FA27}"/>
              </a:ext>
            </a:extLst>
          </p:cNvPr>
          <p:cNvSpPr txBox="1"/>
          <p:nvPr/>
        </p:nvSpPr>
        <p:spPr>
          <a:xfrm>
            <a:off x="1066800" y="2733857"/>
            <a:ext cx="10363200" cy="219484"/>
          </a:xfrm>
          <a:prstGeom prst="rect">
            <a:avLst/>
          </a:prstGeom>
          <a:noFill/>
        </p:spPr>
        <p:txBody>
          <a:bodyPr wrap="square" lIns="0" tIns="0" rIns="0" bIns="0" anchor="t">
            <a:spAutoFit/>
          </a:bodyPr>
          <a:lstStyle/>
          <a:p>
            <a:pPr algn="l">
              <a:lnSpc>
                <a:spcPts val="1918"/>
              </a:lnSpc>
            </a:pPr>
            <a:r>
              <a:rPr lang="en-US" altLang="ja-JP" sz="1200" b="1" i="0" u="none" dirty="0">
                <a:solidFill>
                  <a:srgbClr val="0F172A"/>
                </a:solidFill>
                <a:latin typeface="Noto Sans JP Medium" panose="020B0200000000000000" pitchFamily="50" charset="-128"/>
                <a:ea typeface="Noto Sans JP Medium" panose="020B0200000000000000" pitchFamily="50" charset="-128"/>
              </a:rPr>
              <a:t>AI</a:t>
            </a:r>
            <a:r>
              <a:rPr lang="ja-JP" altLang="en-US" sz="1200" b="1" i="0" u="none" dirty="0">
                <a:solidFill>
                  <a:srgbClr val="0F172A"/>
                </a:solidFill>
                <a:latin typeface="Noto Sans JP Medium" panose="020B0200000000000000" pitchFamily="50" charset="-128"/>
                <a:ea typeface="Noto Sans JP Medium" panose="020B0200000000000000" pitchFamily="50" charset="-128"/>
              </a:rPr>
              <a:t>を使わない選択肢はなく、適応が遅れるほど取り残される時代に</a:t>
            </a:r>
          </a:p>
        </p:txBody>
      </p:sp>
      <p:sp>
        <p:nvSpPr>
          <p:cNvPr id="15" name="TextBox 5">
            <a:extLst>
              <a:ext uri="{FF2B5EF4-FFF2-40B4-BE49-F238E27FC236}">
                <a16:creationId xmlns:a16="http://schemas.microsoft.com/office/drawing/2014/main" id="{B041FA62-1A1D-49FA-8AD1-1B055B162AE8}"/>
              </a:ext>
            </a:extLst>
          </p:cNvPr>
          <p:cNvSpPr txBox="1"/>
          <p:nvPr/>
        </p:nvSpPr>
        <p:spPr>
          <a:xfrm>
            <a:off x="1028700" y="4116740"/>
            <a:ext cx="10363200" cy="219484"/>
          </a:xfrm>
          <a:prstGeom prst="rect">
            <a:avLst/>
          </a:prstGeom>
          <a:noFill/>
        </p:spPr>
        <p:txBody>
          <a:bodyPr wrap="square" lIns="0" tIns="0" rIns="0" bIns="0" anchor="t">
            <a:spAutoFit/>
          </a:bodyPr>
          <a:lstStyle/>
          <a:p>
            <a:pPr algn="l">
              <a:lnSpc>
                <a:spcPts val="1918"/>
              </a:lnSpc>
            </a:pPr>
            <a:r>
              <a:rPr lang="ja-JP" altLang="en-US" sz="1200" b="1" i="0" u="none" dirty="0">
                <a:solidFill>
                  <a:srgbClr val="0F172A"/>
                </a:solidFill>
                <a:latin typeface="Noto Sans JP Medium" panose="020B0200000000000000" pitchFamily="50" charset="-128"/>
                <a:ea typeface="Noto Sans JP Medium" panose="020B0200000000000000" pitchFamily="50" charset="-128"/>
              </a:rPr>
              <a:t>顧客課題のヒアリング・企画・</a:t>
            </a:r>
            <a:r>
              <a:rPr lang="en-US" altLang="ja-JP" sz="1200" b="1" i="0" u="none" dirty="0">
                <a:solidFill>
                  <a:srgbClr val="0F172A"/>
                </a:solidFill>
                <a:latin typeface="Noto Sans JP Medium" panose="020B0200000000000000" pitchFamily="50" charset="-128"/>
                <a:ea typeface="Noto Sans JP Medium" panose="020B0200000000000000" pitchFamily="50" charset="-128"/>
              </a:rPr>
              <a:t>AI</a:t>
            </a:r>
            <a:r>
              <a:rPr lang="ja-JP" altLang="en-US" sz="1200" b="1" i="0" u="none" dirty="0">
                <a:solidFill>
                  <a:srgbClr val="0F172A"/>
                </a:solidFill>
                <a:latin typeface="Noto Sans JP Medium" panose="020B0200000000000000" pitchFamily="50" charset="-128"/>
                <a:ea typeface="Noto Sans JP Medium" panose="020B0200000000000000" pitchFamily="50" charset="-128"/>
              </a:rPr>
              <a:t>の品質管理に注力し、時間を使う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226</TotalTime>
  <Words>585</Words>
  <Application>Microsoft Office PowerPoint</Application>
  <PresentationFormat>ワイド画面</PresentationFormat>
  <Paragraphs>105</Paragraphs>
  <Slides>8</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8</vt:i4>
      </vt:variant>
    </vt:vector>
  </HeadingPairs>
  <TitlesOfParts>
    <vt:vector size="15" baseType="lpstr">
      <vt:lpstr>Noto Sans JP</vt:lpstr>
      <vt:lpstr>Noto Sans JP Black</vt:lpstr>
      <vt:lpstr>Noto Sans JP ExtraBold</vt:lpstr>
      <vt:lpstr>Noto Sans JP Medium</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toshinori.furuya</dc:creator>
  <cp:keywords/>
  <dc:description>generated using python-pptx</dc:description>
  <cp:lastModifiedBy>shinsuke.fukuoka</cp:lastModifiedBy>
  <cp:revision>52</cp:revision>
  <dcterms:created xsi:type="dcterms:W3CDTF">2013-01-27T09:14:16Z</dcterms:created>
  <dcterms:modified xsi:type="dcterms:W3CDTF">2026-08-26T02:02:41Z</dcterms:modified>
  <cp:category/>
</cp:coreProperties>
</file>