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10972800" cy="60350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D50"/>
                </a:solidFill>
                <a:latin typeface="Yu Gothic"/>
              </a:defRPr>
            </a:pPr>
            <a:r>
              <a:t>苦労キャンセル界隈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37386"/>
                </a:solidFill>
                <a:latin typeface="Yu Gothic"/>
              </a:defRPr>
            </a:pPr>
            <a:r>
              <a:t>2026年の日本で注目される「手間を減らす」消費トレンド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37386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73352"/>
            <a:ext cx="6675120" cy="416052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48840"/>
            <a:ext cx="5897880" cy="1417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2D50"/>
                </a:solidFill>
                <a:latin typeface="Yu Gothic"/>
              </a:defRPr>
            </a:pPr>
            <a:r>
              <a:t>並ばない。迷わない。</a:t>
            </a:r>
          </a:p>
          <a:p>
            <a:pPr>
              <a:spcAft>
                <a:spcPts val="800"/>
              </a:spcAft>
              <a:defRPr sz="3000" b="1">
                <a:solidFill>
                  <a:srgbClr val="172D50"/>
                </a:solidFill>
                <a:latin typeface="Yu Gothic"/>
              </a:defRPr>
            </a:pPr>
            <a:r>
              <a:t>面倒なことを減らす。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4352544"/>
            <a:ext cx="5669280" cy="8229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367DC"/>
                </a:solidFill>
                <a:latin typeface="Yu Gothic"/>
              </a:defRPr>
            </a:pPr>
            <a:r>
              <a:t>お金・サービス・テクノロジーで</a:t>
            </a:r>
          </a:p>
          <a:p>
            <a:pPr>
              <a:spcAft>
                <a:spcPts val="800"/>
              </a:spcAft>
              <a:defRPr sz="1800" b="1">
                <a:solidFill>
                  <a:srgbClr val="2367DC"/>
                </a:solidFill>
                <a:latin typeface="Yu Gothic"/>
              </a:defRPr>
            </a:pPr>
            <a:r>
              <a:t>「結果までの苦労」を短縮する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27264" y="1874519"/>
            <a:ext cx="3438144" cy="3639312"/>
          </a:xfrm>
          <a:prstGeom prst="roundRect">
            <a:avLst/>
          </a:prstGeom>
          <a:solidFill>
            <a:srgbClr val="E1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313432"/>
            <a:ext cx="2834640" cy="56692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367DC"/>
                </a:solidFill>
                <a:latin typeface="Yu Gothic"/>
              </a:defRPr>
            </a:pPr>
            <a:r>
              <a:t>WAIT → SKIP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291840"/>
            <a:ext cx="2560320" cy="11887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60分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↓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時間を有効活用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10972800" cy="60350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D50"/>
                </a:solidFill>
                <a:latin typeface="Yu Gothic"/>
              </a:defRPr>
            </a:pPr>
            <a:r>
              <a:t>01｜苦労キャンセルとは？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37386"/>
                </a:solidFill>
                <a:latin typeface="Yu Gothic"/>
              </a:defRPr>
            </a:pPr>
            <a:r>
              <a:t>「苦労は買ってでもしろ」から、「不要な苦労は減らす」へ。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6437376"/>
            <a:ext cx="10698480" cy="2560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386"/>
                </a:solidFill>
                <a:latin typeface="Yu Gothic"/>
              </a:defRPr>
            </a:pPr>
            <a:r>
              <a:t>出典：CX研究所（2026/8/13）、日経トレンディ関連解説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45720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37386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55648"/>
            <a:ext cx="5212080" cy="347472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4632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これまでの発想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32888"/>
            <a:ext cx="4791456" cy="2560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時間をかけることや、自分で全部行うことが努力の証とされやすかった。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例：人気店には長時間並ぶ。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55648"/>
            <a:ext cx="5212080" cy="3474720"/>
          </a:xfrm>
          <a:prstGeom prst="roundRect">
            <a:avLst/>
          </a:prstGeom>
          <a:solidFill>
            <a:srgbClr val="E1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苦労キャンセルの発想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532888"/>
            <a:ext cx="4791456" cy="2560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便利なサービスや道具を使い、目的までの負担を小さくする。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例：追加料金で優先入店を選ぶ。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522976"/>
            <a:ext cx="10241280" cy="594360"/>
          </a:xfrm>
          <a:prstGeom prst="round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614416"/>
            <a:ext cx="9875520" cy="356616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「楽をする」ことではなく、時間や労力の使い方を選ぶ消費行動。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10972800" cy="60350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D50"/>
                </a:solidFill>
                <a:latin typeface="Yu Gothic"/>
              </a:defRPr>
            </a:pPr>
            <a:r>
              <a:t>02｜実例：行列を「買わずに済ませる」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37386"/>
                </a:solidFill>
                <a:latin typeface="Yu Gothic"/>
              </a:defRPr>
            </a:pPr>
            <a:r>
              <a:t>飲食店ファストパス「SuiSui」：行列を短縮する有料の選択肢。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6437376"/>
            <a:ext cx="10698480" cy="2560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386"/>
                </a:solidFill>
                <a:latin typeface="Yu Gothic"/>
              </a:defRPr>
            </a:pPr>
            <a:r>
              <a:t>出典：SuiSui公式サイト／PR TIMES（2026/9/30）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45720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37386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83080"/>
            <a:ext cx="5212080" cy="361188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484632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通常の入店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560320"/>
            <a:ext cx="4791456" cy="26974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人気店に到着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　↓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列に並んで待つ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　↓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順番が来たら入店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83080"/>
            <a:ext cx="5212080" cy="3611880"/>
          </a:xfrm>
          <a:prstGeom prst="roundRect">
            <a:avLst/>
          </a:prstGeom>
          <a:solidFill>
            <a:srgbClr val="E1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47672"/>
            <a:ext cx="484632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SuiSuiを利用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560320"/>
            <a:ext cx="4791456" cy="26974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店頭のQRコードを読み取る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　↓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料金を確認し優先チケットを購入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　↓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席が空き次第、優先案内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715000"/>
            <a:ext cx="10607040" cy="39319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72D50"/>
                </a:solidFill>
                <a:latin typeface="Yu Gothic"/>
              </a:defRPr>
            </a:pPr>
            <a:r>
              <a:t>2026年9月時点：全国約100店舗に導入・累計約5万人が利用（運営会社発表）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10972800" cy="60350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D50"/>
                </a:solidFill>
                <a:latin typeface="Yu Gothic"/>
              </a:defRPr>
            </a:pPr>
            <a:r>
              <a:t>03｜「待つ苦労」はどう変わる？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37386"/>
                </a:solidFill>
                <a:latin typeface="Yu Gothic"/>
              </a:defRPr>
            </a:pPr>
            <a:r>
              <a:t>同じ目的でも、「時間を使う」か「料金を払う」かを選べる。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6437376"/>
            <a:ext cx="10698480" cy="2560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386"/>
                </a:solidFill>
                <a:latin typeface="Yu Gothic"/>
              </a:defRPr>
            </a:pPr>
            <a:r>
              <a:t>出典：SuiSui公式サイト／PR TIMES（2026/9/30）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45720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37386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737360"/>
            <a:ext cx="3493008" cy="352044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127248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利用者の視点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514600"/>
            <a:ext cx="3072384" cy="2606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旅行中や休憩時間など、待ち時間を短縮したい場面で便利。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ただし、追加料金が必要。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37360"/>
            <a:ext cx="3493008" cy="3520440"/>
          </a:xfrm>
          <a:prstGeom prst="roundRect">
            <a:avLst/>
          </a:prstGeom>
          <a:solidFill>
            <a:srgbClr val="E1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901952"/>
            <a:ext cx="3127248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飲食店の視点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3072384" cy="2606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待つのが苦手な客にも来店してもらえる可能性。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通常の列との公平性も課題。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737360"/>
            <a:ext cx="3493008" cy="3520440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901952"/>
            <a:ext cx="3127248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誤解しないポイント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514600"/>
            <a:ext cx="3072384" cy="2606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SuiSuiは席の事前確保とは異なる。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店舗の運用に合わせて優先入店する仕組み。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650992"/>
            <a:ext cx="10607040" cy="4114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2367DC"/>
                </a:solidFill>
                <a:latin typeface="Yu Gothic"/>
              </a:defRPr>
            </a:pPr>
            <a:r>
              <a:t>「時間をお金で買う」選択肢が、飲食店の体験にも入り始めている。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10972800" cy="60350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D50"/>
                </a:solidFill>
                <a:latin typeface="Yu Gothic"/>
              </a:defRPr>
            </a:pPr>
            <a:r>
              <a:t>04｜調理や買い物の苦労も減らす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37386"/>
                </a:solidFill>
                <a:latin typeface="Yu Gothic"/>
              </a:defRPr>
            </a:pPr>
            <a:r>
              <a:t>待つ時間だけでなく、準備・比較・片付けなどの負担も対象。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6437376"/>
            <a:ext cx="10698480" cy="2560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386"/>
                </a:solidFill>
                <a:latin typeface="Yu Gothic"/>
              </a:defRPr>
            </a:pPr>
            <a:r>
              <a:t>出典：日経トレンディ2026ヒット予測の二次解説（事例は紹介・予測を含む）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45720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37386"/>
                </a:solidFill>
                <a:latin typeface="Yu Gothic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64792"/>
            <a:ext cx="5193792" cy="35661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4828031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調理の手間を減らす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773168" cy="2651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電子レンジで調理できる食品や、手順の少ない商品。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鍋・下準備・片付けの負担を小さくする。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64792"/>
            <a:ext cx="5193792" cy="3566160"/>
          </a:xfrm>
          <a:prstGeom prst="roundRect">
            <a:avLst/>
          </a:prstGeom>
          <a:solidFill>
            <a:srgbClr val="E1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9384"/>
            <a:ext cx="4828031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買い物の迷いを減らす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542032"/>
            <a:ext cx="4773168" cy="2651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比較・検索・商品選びを支援するサービス。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生成AIによる買い物支援も、関連例として紹介される。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" y="5596128"/>
            <a:ext cx="10424160" cy="603504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5715000"/>
            <a:ext cx="9966960" cy="33832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72D50"/>
                </a:solidFill>
                <a:latin typeface="Yu Gothic"/>
              </a:defRPr>
            </a:pPr>
            <a:r>
              <a:t>共通点：商品そのものより、「そこに至るプロセス」を簡単にする。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10972800" cy="60350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D50"/>
                </a:solidFill>
                <a:latin typeface="Yu Gothic"/>
              </a:defRPr>
            </a:pPr>
            <a:r>
              <a:t>05｜AIは「関連する一例」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37386"/>
                </a:solidFill>
                <a:latin typeface="Yu Gothic"/>
              </a:defRPr>
            </a:pPr>
            <a:r>
              <a:t>AIが主役なのではなく、面倒な作業を減らす手段の一つ。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6437376"/>
            <a:ext cx="10698480" cy="2560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386"/>
                </a:solidFill>
                <a:latin typeface="Yu Gothic"/>
              </a:defRPr>
            </a:pPr>
            <a:r>
              <a:t>出典：2026年ヒット予測の二次解説／CX研究所（2026/8）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45720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37386"/>
                </a:solidFill>
                <a:latin typeface="Yu Gothic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73936"/>
            <a:ext cx="5202936" cy="35661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837176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リアルタイム翻訳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551176"/>
            <a:ext cx="4782312" cy="2651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言語の違いによる会話の負担を軽減。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旅行や接客などで、伝えるまでの手間を小さくする。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773936"/>
            <a:ext cx="5202936" cy="3566160"/>
          </a:xfrm>
          <a:prstGeom prst="roundRect">
            <a:avLst/>
          </a:prstGeom>
          <a:solidFill>
            <a:srgbClr val="E1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38528"/>
            <a:ext cx="4837176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生成AIショッピング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51176"/>
            <a:ext cx="4782312" cy="2651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希望を伝えると、商品候補の提案や比較を支援。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「調べる・選ぶ」負担を減らす方向。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32704"/>
            <a:ext cx="10149840" cy="4389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72D50"/>
                </a:solidFill>
                <a:latin typeface="Yu Gothic"/>
              </a:defRPr>
            </a:pPr>
            <a:r>
              <a:t>アプリ制作などのAI活用も考えられるが、今回は消費トレンドの事例を優先。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10972800" cy="60350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D50"/>
                </a:solidFill>
                <a:latin typeface="Yu Gothic"/>
              </a:defRPr>
            </a:pPr>
            <a:r>
              <a:t>06｜便利さの裏側にある課題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37386"/>
                </a:solidFill>
                <a:latin typeface="Yu Gothic"/>
              </a:defRPr>
            </a:pPr>
            <a:r>
              <a:t>苦労を減らすことが、誰にとっても同じように良いとは限らない。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37386"/>
                </a:solidFill>
                <a:latin typeface="Yu Gothic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520440" cy="3621024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315468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費用と格差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099816" cy="27066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追加料金を払える人だけが時間を節約できる場合もある。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便利さの公平性が問われる。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3621024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15468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体験や学び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514600"/>
            <a:ext cx="3099816" cy="27066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手順を省略することで、経験や学習の機会を失う可能性もある。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737360"/>
            <a:ext cx="3520440" cy="3621024"/>
          </a:xfrm>
          <a:prstGeom prst="roundRect">
            <a:avLst/>
          </a:prstGeom>
          <a:solidFill>
            <a:srgbClr val="E1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01952"/>
            <a:ext cx="315468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過度な依存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514600"/>
            <a:ext cx="3099816" cy="270662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便利なサービスが使えない時に、対応しにくくなることも。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687568"/>
            <a:ext cx="10104120" cy="566928"/>
          </a:xfrm>
          <a:prstGeom prst="round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5769864"/>
            <a:ext cx="9784080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便利さ・価格・公平性を比べて、自分に合う方法を選ぶ。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10972800" cy="60350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D50"/>
                </a:solidFill>
                <a:latin typeface="Yu Gothic"/>
              </a:defRPr>
            </a:pPr>
            <a:r>
              <a:t>まとめ｜何の苦労をキャンセルする？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47548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37386"/>
                </a:solidFill>
                <a:latin typeface="Yu Gothic"/>
              </a:defRPr>
            </a:pPr>
            <a:r>
              <a:t>苦労をなくす目的は、「何もしないこと」ではない。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6437376"/>
            <a:ext cx="10698480" cy="2560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386"/>
                </a:solidFill>
                <a:latin typeface="Yu Gothic"/>
              </a:defRPr>
            </a:pPr>
            <a:r>
              <a:t>出典：参考：SuiSui公式／PR TIMES 2026/9/30／CX研究所 2026/8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457200" cy="237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37386"/>
                </a:solidFill>
                <a:latin typeface="Yu Gothic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37360"/>
            <a:ext cx="5212080" cy="3438144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484632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減らしたい苦労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514600"/>
            <a:ext cx="4791456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・長い待ち時間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・繰り返しの作業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・調理や比較の面倒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・不要なストレス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37360"/>
            <a:ext cx="5212080" cy="3438144"/>
          </a:xfrm>
          <a:prstGeom prst="roundRect">
            <a:avLst/>
          </a:prstGeom>
          <a:solidFill>
            <a:srgbClr val="E1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01952"/>
            <a:ext cx="484632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2D50"/>
                </a:solidFill>
                <a:latin typeface="Yu Gothic"/>
              </a:defRPr>
            </a:pPr>
            <a:r>
              <a:t>残したい価値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514600"/>
            <a:ext cx="4791456" cy="25237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・人との交流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・新しい経験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・学びや挑戦</a:t>
            </a:r>
          </a:p>
          <a:p>
            <a:pPr>
              <a:spcAft>
                <a:spcPts val="800"/>
              </a:spcAft>
              <a:defRPr sz="1600" b="0">
                <a:solidFill>
                  <a:srgbClr val="2D3D52"/>
                </a:solidFill>
                <a:latin typeface="Yu Gothic"/>
              </a:defRPr>
            </a:pPr>
            <a:r>
              <a:t>・自分で選ぶ楽しさ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5513832"/>
            <a:ext cx="10698480" cy="758952"/>
          </a:xfrm>
          <a:prstGeom prst="roundRect">
            <a:avLst/>
          </a:prstGeom>
          <a:solidFill>
            <a:srgbClr val="23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5669280"/>
            <a:ext cx="10241280" cy="39319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  <a:latin typeface="Yu Gothic"/>
              </a:defRPr>
            </a:pPr>
            <a:r>
              <a:t>苦労することより、「何に時間を使うか」が大切。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